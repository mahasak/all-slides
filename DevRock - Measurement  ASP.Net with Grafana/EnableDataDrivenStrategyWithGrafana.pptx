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4" r:id="rId4"/>
    <p:sldId id="265" r:id="rId5"/>
    <p:sldId id="266" r:id="rId6"/>
    <p:sldId id="263" r:id="rId7"/>
    <p:sldId id="258" r:id="rId8"/>
    <p:sldId id="268" r:id="rId9"/>
    <p:sldId id="274" r:id="rId10"/>
    <p:sldId id="275" r:id="rId11"/>
    <p:sldId id="276" r:id="rId12"/>
    <p:sldId id="277" r:id="rId13"/>
    <p:sldId id="278" r:id="rId14"/>
    <p:sldId id="269" r:id="rId15"/>
    <p:sldId id="270" r:id="rId16"/>
    <p:sldId id="271" r:id="rId17"/>
    <p:sldId id="272" r:id="rId18"/>
    <p:sldId id="273" r:id="rId19"/>
    <p:sldId id="279" r:id="rId20"/>
    <p:sldId id="280" r:id="rId21"/>
    <p:sldId id="283" r:id="rId22"/>
    <p:sldId id="281" r:id="rId23"/>
    <p:sldId id="282" r:id="rId24"/>
    <p:sldId id="267" r:id="rId25"/>
    <p:sldId id="260" r:id="rId26"/>
  </p:sldIdLst>
  <p:sldSz cx="17340263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66FF"/>
    <a:srgbClr val="3EB496"/>
    <a:srgbClr val="F0F0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43" y="-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Time Series Data Point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66FF">
                <a:alpha val="18824"/>
              </a:srgbClr>
            </a:solidFill>
            <a:ln>
              <a:noFill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B5-495A-B31E-416C557BC1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00CC00">
                <a:alpha val="20000"/>
              </a:srgbClr>
            </a:solidFill>
            <a:ln>
              <a:noFill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B5-495A-B31E-416C557BC1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7510815"/>
        <c:axId val="957513727"/>
      </c:areaChart>
      <c:dateAx>
        <c:axId val="957510815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7513727"/>
        <c:crosses val="autoZero"/>
        <c:auto val="1"/>
        <c:lblOffset val="100"/>
        <c:baseTimeUnit val="days"/>
      </c:dateAx>
      <c:valAx>
        <c:axId val="957513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7510815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4" name="Shape 12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693385" y="1638300"/>
            <a:ext cx="13953493" cy="3302000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Superspace Bold" panose="02000000000000000000" pitchFamily="2" charset="0"/>
                <a:cs typeface="Superspace Bold" panose="02000000000000000000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693385" y="5029200"/>
            <a:ext cx="13953493" cy="11303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sz="4267">
                <a:latin typeface="Superspace Bold" panose="02000000000000000000" pitchFamily="2" charset="0"/>
                <a:cs typeface="Superspace Bold" panose="02000000000000000000" pitchFamily="2" charset="0"/>
              </a:defRPr>
            </a:lvl1pPr>
            <a:lvl2pPr marL="0" indent="304815">
              <a:spcBef>
                <a:spcPts val="0"/>
              </a:spcBef>
              <a:buSzTx/>
              <a:buNone/>
              <a:defRPr sz="4267">
                <a:latin typeface="Superspace Bold" panose="02000000000000000000" pitchFamily="2" charset="0"/>
                <a:cs typeface="Superspace Bold" panose="02000000000000000000" pitchFamily="2" charset="0"/>
              </a:defRPr>
            </a:lvl2pPr>
            <a:lvl3pPr marL="0" indent="609630">
              <a:spcBef>
                <a:spcPts val="0"/>
              </a:spcBef>
              <a:buSzTx/>
              <a:buNone/>
              <a:defRPr sz="4267">
                <a:latin typeface="Superspace Bold" panose="02000000000000000000" pitchFamily="2" charset="0"/>
                <a:cs typeface="Superspace Bold" panose="02000000000000000000" pitchFamily="2" charset="0"/>
              </a:defRPr>
            </a:lvl3pPr>
            <a:lvl4pPr marL="0" indent="914446">
              <a:spcBef>
                <a:spcPts val="0"/>
              </a:spcBef>
              <a:buSzTx/>
              <a:buNone/>
              <a:defRPr sz="4267">
                <a:latin typeface="Superspace Bold" panose="02000000000000000000" pitchFamily="2" charset="0"/>
                <a:cs typeface="Superspace Bold" panose="02000000000000000000" pitchFamily="2" charset="0"/>
              </a:defRPr>
            </a:lvl4pPr>
            <a:lvl5pPr marL="0" indent="1219261">
              <a:spcBef>
                <a:spcPts val="0"/>
              </a:spcBef>
              <a:buSzTx/>
              <a:buNone/>
              <a:defRPr sz="4267">
                <a:latin typeface="Superspace Bold" panose="02000000000000000000" pitchFamily="2" charset="0"/>
                <a:cs typeface="Superspace Bold" panose="02000000000000000000" pitchFamily="2" charset="0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xfrm>
            <a:off x="8507776" y="9251950"/>
            <a:ext cx="307777" cy="471924"/>
          </a:xfrm>
          <a:prstGeom prst="rect">
            <a:avLst/>
          </a:prstGeom>
        </p:spPr>
        <p:txBody>
          <a:bodyPr/>
          <a:lstStyle>
            <a:lvl1pPr>
              <a:defRPr>
                <a:latin typeface="Superspace Bold" panose="02000000000000000000" pitchFamily="2" charset="0"/>
                <a:cs typeface="Superspace Bold" panose="02000000000000000000" pitchFamily="2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2142132" y="635000"/>
            <a:ext cx="13039065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>
              <a:defRPr>
                <a:latin typeface="Superspace Bold" panose="02000000000000000000" pitchFamily="2" charset="0"/>
                <a:cs typeface="Superspace Bold" panose="02000000000000000000" pitchFamily="2" charset="0"/>
              </a:defRPr>
            </a:lvl1pPr>
          </a:lstStyle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1693385" y="6718300"/>
            <a:ext cx="13953493" cy="1422400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Superspace Bold" panose="02000000000000000000" pitchFamily="2" charset="0"/>
                <a:cs typeface="Superspace Bold" panose="02000000000000000000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1693385" y="8191500"/>
            <a:ext cx="13953493" cy="11303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sz="4267">
                <a:latin typeface="Superspace Bold" panose="02000000000000000000" pitchFamily="2" charset="0"/>
                <a:cs typeface="Superspace Bold" panose="02000000000000000000" pitchFamily="2" charset="0"/>
              </a:defRPr>
            </a:lvl1pPr>
            <a:lvl2pPr marL="0" indent="304815">
              <a:spcBef>
                <a:spcPts val="0"/>
              </a:spcBef>
              <a:buSzTx/>
              <a:buNone/>
              <a:defRPr sz="4267">
                <a:latin typeface="Superspace Bold" panose="02000000000000000000" pitchFamily="2" charset="0"/>
                <a:cs typeface="Superspace Bold" panose="02000000000000000000" pitchFamily="2" charset="0"/>
              </a:defRPr>
            </a:lvl2pPr>
            <a:lvl3pPr marL="0" indent="609630">
              <a:spcBef>
                <a:spcPts val="0"/>
              </a:spcBef>
              <a:buSzTx/>
              <a:buNone/>
              <a:defRPr sz="4267">
                <a:latin typeface="Superspace Bold" panose="02000000000000000000" pitchFamily="2" charset="0"/>
                <a:cs typeface="Superspace Bold" panose="02000000000000000000" pitchFamily="2" charset="0"/>
              </a:defRPr>
            </a:lvl3pPr>
            <a:lvl4pPr marL="0" indent="914446">
              <a:spcBef>
                <a:spcPts val="0"/>
              </a:spcBef>
              <a:buSzTx/>
              <a:buNone/>
              <a:defRPr sz="4267">
                <a:latin typeface="Superspace Bold" panose="02000000000000000000" pitchFamily="2" charset="0"/>
                <a:cs typeface="Superspace Bold" panose="02000000000000000000" pitchFamily="2" charset="0"/>
              </a:defRPr>
            </a:lvl4pPr>
            <a:lvl5pPr marL="0" indent="1219261">
              <a:spcBef>
                <a:spcPts val="0"/>
              </a:spcBef>
              <a:buSzTx/>
              <a:buNone/>
              <a:defRPr sz="4267">
                <a:latin typeface="Superspace Bold" panose="02000000000000000000" pitchFamily="2" charset="0"/>
                <a:cs typeface="Superspace Bold" panose="02000000000000000000" pitchFamily="2" charset="0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xfrm>
            <a:off x="8507776" y="9245600"/>
            <a:ext cx="307777" cy="471924"/>
          </a:xfrm>
          <a:prstGeom prst="rect">
            <a:avLst/>
          </a:prstGeom>
        </p:spPr>
        <p:txBody>
          <a:bodyPr/>
          <a:lstStyle>
            <a:lvl1pPr>
              <a:defRPr>
                <a:latin typeface="Superspace Bold" panose="02000000000000000000" pitchFamily="2" charset="0"/>
                <a:cs typeface="Superspace Bold" panose="02000000000000000000" pitchFamily="2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1693385" y="3225800"/>
            <a:ext cx="13953493" cy="3302000"/>
          </a:xfrm>
          <a:prstGeom prst="rect">
            <a:avLst/>
          </a:prstGeom>
        </p:spPr>
        <p:txBody>
          <a:bodyPr/>
          <a:lstStyle>
            <a:lvl1pPr>
              <a:defRPr>
                <a:latin typeface="Superspace Bold" panose="02000000000000000000" pitchFamily="2" charset="0"/>
                <a:cs typeface="Superspace Bold" panose="02000000000000000000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xfrm>
            <a:off x="8507776" y="9251950"/>
            <a:ext cx="307777" cy="471924"/>
          </a:xfrm>
          <a:prstGeom prst="rect">
            <a:avLst/>
          </a:prstGeom>
        </p:spPr>
        <p:txBody>
          <a:bodyPr/>
          <a:lstStyle>
            <a:lvl1pPr>
              <a:defRPr>
                <a:latin typeface="Superspace Bold" panose="02000000000000000000" pitchFamily="2" charset="0"/>
                <a:cs typeface="Superspace Bold" panose="02000000000000000000" pitchFamily="2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8958007" y="635000"/>
            <a:ext cx="7112217" cy="8229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1270039" y="635000"/>
            <a:ext cx="7112217" cy="3987800"/>
          </a:xfrm>
          <a:prstGeom prst="rect">
            <a:avLst/>
          </a:prstGeom>
        </p:spPr>
        <p:txBody>
          <a:bodyPr anchor="b"/>
          <a:lstStyle>
            <a:lvl1pPr algn="l"/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1270039" y="4762500"/>
            <a:ext cx="7112217" cy="41021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sz="4267"/>
            </a:lvl1pPr>
            <a:lvl2pPr marL="0" indent="304815">
              <a:spcBef>
                <a:spcPts val="0"/>
              </a:spcBef>
              <a:buSzTx/>
              <a:buNone/>
              <a:defRPr sz="4267"/>
            </a:lvl2pPr>
            <a:lvl3pPr marL="0" indent="609630">
              <a:spcBef>
                <a:spcPts val="0"/>
              </a:spcBef>
              <a:buSzTx/>
              <a:buNone/>
              <a:defRPr sz="4267"/>
            </a:lvl3pPr>
            <a:lvl4pPr marL="0" indent="914446">
              <a:spcBef>
                <a:spcPts val="0"/>
              </a:spcBef>
              <a:buSzTx/>
              <a:buNone/>
              <a:defRPr sz="4267"/>
            </a:lvl4pPr>
            <a:lvl5pPr marL="0" indent="1219261">
              <a:spcBef>
                <a:spcPts val="0"/>
              </a:spcBef>
              <a:buSzTx/>
              <a:buNone/>
              <a:defRPr sz="4267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xfrm>
            <a:off x="1450666" y="2609850"/>
            <a:ext cx="14800187" cy="62865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half" idx="13"/>
          </p:nvPr>
        </p:nvSpPr>
        <p:spPr>
          <a:xfrm>
            <a:off x="8958007" y="2603500"/>
            <a:ext cx="7112217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half" idx="1"/>
          </p:nvPr>
        </p:nvSpPr>
        <p:spPr>
          <a:xfrm>
            <a:off x="1270039" y="2603500"/>
            <a:ext cx="7112217" cy="6286500"/>
          </a:xfrm>
          <a:prstGeom prst="rect">
            <a:avLst/>
          </a:prstGeom>
        </p:spPr>
        <p:txBody>
          <a:bodyPr/>
          <a:lstStyle>
            <a:lvl1pPr marL="457223" indent="-457223">
              <a:spcBef>
                <a:spcPts val="4267"/>
              </a:spcBef>
              <a:defRPr sz="3734">
                <a:solidFill>
                  <a:srgbClr val="0F0F0F"/>
                </a:solidFill>
              </a:defRPr>
            </a:lvl1pPr>
            <a:lvl2pPr marL="914446" indent="-457223">
              <a:spcBef>
                <a:spcPts val="4267"/>
              </a:spcBef>
              <a:defRPr sz="3734">
                <a:solidFill>
                  <a:srgbClr val="0F0F0F"/>
                </a:solidFill>
              </a:defRPr>
            </a:lvl2pPr>
            <a:lvl3pPr marL="1371669" indent="-457223">
              <a:spcBef>
                <a:spcPts val="4267"/>
              </a:spcBef>
              <a:defRPr sz="3734">
                <a:solidFill>
                  <a:srgbClr val="0F0F0F"/>
                </a:solidFill>
              </a:defRPr>
            </a:lvl3pPr>
            <a:lvl4pPr marL="1828891" indent="-457223">
              <a:spcBef>
                <a:spcPts val="4267"/>
              </a:spcBef>
              <a:defRPr sz="3734">
                <a:solidFill>
                  <a:srgbClr val="0F0F0F"/>
                </a:solidFill>
              </a:defRPr>
            </a:lvl4pPr>
            <a:lvl5pPr marL="2286114" indent="-457223">
              <a:spcBef>
                <a:spcPts val="4267"/>
              </a:spcBef>
              <a:defRPr sz="3734">
                <a:solidFill>
                  <a:srgbClr val="0F0F0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1270039" y="1270000"/>
            <a:ext cx="14800185" cy="7213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13"/>
          </p:nvPr>
        </p:nvSpPr>
        <p:spPr>
          <a:xfrm>
            <a:off x="8958007" y="5092700"/>
            <a:ext cx="7112217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14"/>
          </p:nvPr>
        </p:nvSpPr>
        <p:spPr>
          <a:xfrm>
            <a:off x="8966298" y="889000"/>
            <a:ext cx="7112219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sz="half" idx="15"/>
          </p:nvPr>
        </p:nvSpPr>
        <p:spPr>
          <a:xfrm>
            <a:off x="1270039" y="889000"/>
            <a:ext cx="7112217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3"/>
          </p:nvPr>
        </p:nvSpPr>
        <p:spPr>
          <a:xfrm>
            <a:off x="1693385" y="6362700"/>
            <a:ext cx="13953493" cy="430824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133">
                <a:solidFill>
                  <a:srgbClr val="53585F"/>
                </a:solidFill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14"/>
          </p:nvPr>
        </p:nvSpPr>
        <p:spPr>
          <a:xfrm>
            <a:off x="1693385" y="4168922"/>
            <a:ext cx="13953493" cy="88235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067"/>
            </a:lvl1pPr>
          </a:lstStyle>
          <a:p>
            <a:r>
              <a:t>“Type a quote here.” 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13"/>
          </p:nvPr>
        </p:nvSpPr>
        <p:spPr>
          <a:xfrm>
            <a:off x="0" y="0"/>
            <a:ext cx="17340263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copy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270039" y="444500"/>
            <a:ext cx="14800185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1270039" y="2603500"/>
            <a:ext cx="14800185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507776" y="9251950"/>
            <a:ext cx="307777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Superspace Bold" panose="02000000000000000000" pitchFamily="2" charset="0"/>
                <a:cs typeface="Superspace Bold" panose="02000000000000000000" pitchFamily="2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3EB496"/>
          </a:solidFill>
          <a:uFillTx/>
          <a:latin typeface="Superspace Bold" panose="02000000000000000000" pitchFamily="2" charset="0"/>
          <a:ea typeface="+mn-ea"/>
          <a:cs typeface="Superspace Bold" panose="02000000000000000000" pitchFamily="2" charset="0"/>
          <a:sym typeface="Helvetica"/>
        </a:defRPr>
      </a:lvl1pPr>
      <a:lvl2pPr marL="0" marR="0" indent="304815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3EB496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60963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3EB496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91444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3EB496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21926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3EB496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152407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3EB496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182889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3EB496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2133707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3EB496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2438522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67" b="0" i="0" u="none" strike="noStrike" cap="none" spc="0" baseline="0">
          <a:ln>
            <a:noFill/>
          </a:ln>
          <a:solidFill>
            <a:srgbClr val="3EB496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592696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3EB496"/>
          </a:solidFill>
          <a:uFillTx/>
          <a:latin typeface="Superspace Bold" panose="02000000000000000000" pitchFamily="2" charset="0"/>
          <a:ea typeface="+mn-ea"/>
          <a:cs typeface="Superspace Bold" panose="02000000000000000000" pitchFamily="2" charset="0"/>
          <a:sym typeface="Helvetica"/>
        </a:defRPr>
      </a:lvl1pPr>
      <a:lvl2pPr marL="1185393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3EB496"/>
          </a:solidFill>
          <a:uFillTx/>
          <a:latin typeface="Superspace Bold" panose="02000000000000000000" pitchFamily="2" charset="0"/>
          <a:ea typeface="+mn-ea"/>
          <a:cs typeface="Superspace Bold" panose="02000000000000000000" pitchFamily="2" charset="0"/>
          <a:sym typeface="Helvetica"/>
        </a:defRPr>
      </a:lvl2pPr>
      <a:lvl3pPr marL="1778089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3EB496"/>
          </a:solidFill>
          <a:uFillTx/>
          <a:latin typeface="Superspace Bold" panose="02000000000000000000" pitchFamily="2" charset="0"/>
          <a:ea typeface="+mn-ea"/>
          <a:cs typeface="Superspace Bold" panose="02000000000000000000" pitchFamily="2" charset="0"/>
          <a:sym typeface="Helvetica"/>
        </a:defRPr>
      </a:lvl3pPr>
      <a:lvl4pPr marL="2370785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3EB496"/>
          </a:solidFill>
          <a:uFillTx/>
          <a:latin typeface="Superspace Bold" panose="02000000000000000000" pitchFamily="2" charset="0"/>
          <a:ea typeface="+mn-ea"/>
          <a:cs typeface="Superspace Bold" panose="02000000000000000000" pitchFamily="2" charset="0"/>
          <a:sym typeface="Helvetica"/>
        </a:defRPr>
      </a:lvl4pPr>
      <a:lvl5pPr marL="2963482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3EB496"/>
          </a:solidFill>
          <a:uFillTx/>
          <a:latin typeface="Superspace Bold" panose="02000000000000000000" pitchFamily="2" charset="0"/>
          <a:ea typeface="+mn-ea"/>
          <a:cs typeface="Superspace Bold" panose="02000000000000000000" pitchFamily="2" charset="0"/>
          <a:sym typeface="Helvetica"/>
        </a:defRPr>
      </a:lvl5pPr>
      <a:lvl6pPr marL="3556178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3EB496"/>
          </a:solidFill>
          <a:uFillTx/>
          <a:latin typeface="+mn-lt"/>
          <a:ea typeface="+mn-ea"/>
          <a:cs typeface="+mn-cs"/>
          <a:sym typeface="Helvetica"/>
        </a:defRPr>
      </a:lvl6pPr>
      <a:lvl7pPr marL="4148874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3EB496"/>
          </a:solidFill>
          <a:uFillTx/>
          <a:latin typeface="+mn-lt"/>
          <a:ea typeface="+mn-ea"/>
          <a:cs typeface="+mn-cs"/>
          <a:sym typeface="Helvetica"/>
        </a:defRPr>
      </a:lvl7pPr>
      <a:lvl8pPr marL="4741570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3EB496"/>
          </a:solidFill>
          <a:uFillTx/>
          <a:latin typeface="+mn-lt"/>
          <a:ea typeface="+mn-ea"/>
          <a:cs typeface="+mn-cs"/>
          <a:sym typeface="Helvetica"/>
        </a:defRPr>
      </a:lvl8pPr>
      <a:lvl9pPr marL="5334267" marR="0" indent="-592696" algn="l" defTabSz="778972" rtl="0" latinLnBrk="0">
        <a:lnSpc>
          <a:spcPct val="100000"/>
        </a:lnSpc>
        <a:spcBef>
          <a:spcPts val="5600"/>
        </a:spcBef>
        <a:spcAft>
          <a:spcPts val="0"/>
        </a:spcAft>
        <a:buClrTx/>
        <a:buSzPct val="7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3EB496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04815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09630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91444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21926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524076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828891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133707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438522" algn="ctr" defTabSz="7789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24764" y="3458999"/>
            <a:ext cx="7349631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BIGBEARS</a:t>
            </a:r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.IO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386385" y="4894188"/>
            <a:ext cx="14055668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GIVING ASP.NET WEBSITE VISIBILITY WITH REALTIME METRICS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28" name="Shape 128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sp>
        <p:nvSpPr>
          <p:cNvPr id="129" name="Shape 129"/>
          <p:cNvSpPr/>
          <p:nvPr/>
        </p:nvSpPr>
        <p:spPr>
          <a:xfrm>
            <a:off x="677794" y="10717896"/>
            <a:ext cx="2735701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l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DATE: 2016 - 08 - 14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9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86385" y="6500364"/>
            <a:ext cx="2618241" cy="944919"/>
            <a:chOff x="729939" y="5531361"/>
            <a:chExt cx="2618241" cy="944919"/>
          </a:xfrm>
        </p:grpSpPr>
        <p:sp>
          <p:nvSpPr>
            <p:cNvPr id="12" name="Shape 127"/>
            <p:cNvSpPr/>
            <p:nvPr/>
          </p:nvSpPr>
          <p:spPr>
            <a:xfrm>
              <a:off x="729939" y="5970155"/>
              <a:ext cx="1879258" cy="5061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67735" tIns="67735" rIns="67735" bIns="67735" anchor="ctr">
              <a:spAutoFit/>
            </a:bodyPr>
            <a:lstStyle>
              <a:lvl1pPr algn="l">
                <a:defRPr sz="32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US" sz="2400" dirty="0" smtClean="0">
                  <a:solidFill>
                    <a:srgbClr val="F0F0F0"/>
                  </a:solidFill>
                  <a:latin typeface="Superspace Bold" panose="02000000000000000000" pitchFamily="2" charset="0"/>
                  <a:cs typeface="Superspace Bold" panose="02000000000000000000" pitchFamily="2" charset="0"/>
                </a:rPr>
                <a:t>BEARCHITECT</a:t>
              </a:r>
              <a:endParaRPr sz="2400" dirty="0">
                <a:solidFill>
                  <a:srgbClr val="F0F0F0"/>
                </a:solidFill>
                <a:latin typeface="Superspace Bold" panose="02000000000000000000" pitchFamily="2" charset="0"/>
                <a:cs typeface="Superspace Bold" panose="02000000000000000000" pitchFamily="2" charset="0"/>
              </a:endParaRPr>
            </a:p>
          </p:txBody>
        </p:sp>
        <p:sp>
          <p:nvSpPr>
            <p:cNvPr id="13" name="Shape 127"/>
            <p:cNvSpPr/>
            <p:nvPr/>
          </p:nvSpPr>
          <p:spPr>
            <a:xfrm>
              <a:off x="729939" y="5531361"/>
              <a:ext cx="2618241" cy="5061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67735" tIns="67735" rIns="67735" bIns="67735" anchor="ctr">
              <a:spAutoFit/>
            </a:bodyPr>
            <a:lstStyle>
              <a:lvl1pPr algn="l">
                <a:defRPr sz="32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US" sz="2400" dirty="0" smtClean="0">
                  <a:solidFill>
                    <a:srgbClr val="F0F0F0"/>
                  </a:solidFill>
                  <a:latin typeface="Superspace Bold" panose="02000000000000000000" pitchFamily="2" charset="0"/>
                  <a:cs typeface="Superspace Bold" panose="02000000000000000000" pitchFamily="2" charset="0"/>
                </a:rPr>
                <a:t>MAHASAK PIJITTUM</a:t>
              </a:r>
              <a:endParaRPr sz="2400" dirty="0">
                <a:solidFill>
                  <a:srgbClr val="F0F0F0"/>
                </a:solidFill>
                <a:latin typeface="Superspace Bold" panose="02000000000000000000" pitchFamily="2" charset="0"/>
                <a:cs typeface="Superspace Bold" panose="02000000000000000000" pitchFamily="2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52" y="2542873"/>
            <a:ext cx="3884022" cy="3884022"/>
          </a:xfrm>
          <a:prstGeom prst="rect">
            <a:avLst/>
          </a:prstGeom>
        </p:spPr>
      </p:pic>
      <p:sp>
        <p:nvSpPr>
          <p:cNvPr id="20" name="Shape 127"/>
          <p:cNvSpPr/>
          <p:nvPr/>
        </p:nvSpPr>
        <p:spPr>
          <a:xfrm>
            <a:off x="7453391" y="2542873"/>
            <a:ext cx="4557875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MAHASAK PIJITTUM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22" name="WhiteBear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24" name="Shape 127"/>
          <p:cNvSpPr/>
          <p:nvPr/>
        </p:nvSpPr>
        <p:spPr>
          <a:xfrm>
            <a:off x="6878626" y="3336321"/>
            <a:ext cx="7281378" cy="3460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BEARCHITECT @ BigBears.IO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Senior Software Engineer @ Agoda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Chief Party Officer @ </a:t>
            </a:r>
            <a:r>
              <a:rPr lang="th-TH" sz="36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ตุ่นนินจา</a:t>
            </a:r>
            <a:endParaRPr lang="en-US" sz="3600" dirty="0" smtClean="0">
              <a:solidFill>
                <a:schemeClr val="bg1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th-TH" sz="36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พ่อบ้านใจกล้า</a:t>
            </a:r>
            <a:r>
              <a:rPr lang="en-US" sz="36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 @ Home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th-TH" sz="36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ป๋า</a:t>
            </a:r>
            <a:r>
              <a:rPr lang="en-US" sz="36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…</a:t>
            </a:r>
          </a:p>
          <a:p>
            <a:endParaRPr lang="en-US" sz="3600" dirty="0" smtClean="0">
              <a:solidFill>
                <a:schemeClr val="bg1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26"/>
          <p:cNvSpPr/>
          <p:nvPr/>
        </p:nvSpPr>
        <p:spPr>
          <a:xfrm>
            <a:off x="6844579" y="8060862"/>
            <a:ext cx="10320015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Why Measurement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pic>
        <p:nvPicPr>
          <p:cNvPr id="1026" name="Picture 2" descr="Image result for Measure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7340263" cy="839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2542155" y="8060862"/>
            <a:ext cx="47981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Image credit: https</a:t>
            </a:r>
            <a:r>
              <a:rPr lang="en-US" sz="1600" dirty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://en.wikipedia.org/wiki/Measurement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19" name="WhiteBear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71055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26"/>
          <p:cNvSpPr/>
          <p:nvPr/>
        </p:nvSpPr>
        <p:spPr>
          <a:xfrm>
            <a:off x="6844579" y="8060862"/>
            <a:ext cx="10320015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Why Measurement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19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8" name="Shape 126"/>
          <p:cNvSpPr/>
          <p:nvPr/>
        </p:nvSpPr>
        <p:spPr>
          <a:xfrm>
            <a:off x="962158" y="1730385"/>
            <a:ext cx="6794493" cy="1244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algn="r"/>
            <a:r>
              <a:rPr lang="en-US" sz="7200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TRACK SUCCESS</a:t>
            </a:r>
            <a:endParaRPr sz="7200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9" name="Shape 127"/>
          <p:cNvSpPr/>
          <p:nvPr/>
        </p:nvSpPr>
        <p:spPr>
          <a:xfrm>
            <a:off x="7907905" y="2155829"/>
            <a:ext cx="9052695" cy="690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36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Track your growth and identify your challenges</a:t>
            </a:r>
            <a:endParaRPr sz="3600" dirty="0">
              <a:solidFill>
                <a:schemeClr val="bg1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0" name="Shape 126"/>
          <p:cNvSpPr/>
          <p:nvPr/>
        </p:nvSpPr>
        <p:spPr>
          <a:xfrm>
            <a:off x="962158" y="2766768"/>
            <a:ext cx="6794493" cy="1244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algn="r"/>
            <a:r>
              <a:rPr lang="en-US" sz="7200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IMPROVE</a:t>
            </a:r>
            <a:endParaRPr sz="7200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1" name="Shape 126"/>
          <p:cNvSpPr/>
          <p:nvPr/>
        </p:nvSpPr>
        <p:spPr>
          <a:xfrm>
            <a:off x="-164941" y="3803151"/>
            <a:ext cx="7921591" cy="1244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algn="r"/>
            <a:r>
              <a:rPr lang="en-US" sz="7200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SET EXPECTATIONS</a:t>
            </a:r>
            <a:endParaRPr sz="7200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2" name="Shape 126"/>
          <p:cNvSpPr/>
          <p:nvPr/>
        </p:nvSpPr>
        <p:spPr>
          <a:xfrm>
            <a:off x="-164941" y="4843527"/>
            <a:ext cx="7921591" cy="1244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algn="r"/>
            <a:r>
              <a:rPr lang="en-US" sz="7200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HELP DECISION</a:t>
            </a:r>
            <a:endParaRPr sz="7200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4" name="Shape 127"/>
          <p:cNvSpPr/>
          <p:nvPr/>
        </p:nvSpPr>
        <p:spPr>
          <a:xfrm>
            <a:off x="7907904" y="3193042"/>
            <a:ext cx="8201501" cy="690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36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You can’t improve what you can’t measure</a:t>
            </a:r>
            <a:endParaRPr sz="3600" dirty="0">
              <a:solidFill>
                <a:schemeClr val="bg1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5" name="Shape 127"/>
          <p:cNvSpPr/>
          <p:nvPr/>
        </p:nvSpPr>
        <p:spPr>
          <a:xfrm>
            <a:off x="7907904" y="4225090"/>
            <a:ext cx="8762552" cy="690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36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Where your expectation are in next 3 months</a:t>
            </a:r>
            <a:endParaRPr sz="3600" dirty="0">
              <a:solidFill>
                <a:schemeClr val="bg1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6" name="Shape 127"/>
          <p:cNvSpPr/>
          <p:nvPr/>
        </p:nvSpPr>
        <p:spPr>
          <a:xfrm>
            <a:off x="7907904" y="5257138"/>
            <a:ext cx="7209242" cy="690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36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You can’t decide without information</a:t>
            </a:r>
            <a:endParaRPr sz="3600" dirty="0">
              <a:solidFill>
                <a:schemeClr val="bg1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7650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26"/>
          <p:cNvSpPr/>
          <p:nvPr/>
        </p:nvSpPr>
        <p:spPr>
          <a:xfrm>
            <a:off x="3213463" y="8060862"/>
            <a:ext cx="13951131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Who Loves Measurement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19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pic>
        <p:nvPicPr>
          <p:cNvPr id="21" name="pasted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81110" y="2696465"/>
            <a:ext cx="6496957" cy="41048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2" name="Picture 4" descr="Image result for einstein flat desig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306" y="3276310"/>
            <a:ext cx="4070713" cy="352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businessman flat design transparen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0019" y="1358537"/>
            <a:ext cx="3911994" cy="544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15934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7851161" y="2090056"/>
            <a:ext cx="8193130" cy="6628623"/>
            <a:chOff x="4206624" y="2024742"/>
            <a:chExt cx="8193130" cy="6628623"/>
          </a:xfrm>
        </p:grpSpPr>
        <p:grpSp>
          <p:nvGrpSpPr>
            <p:cNvPr id="4" name="Group 3"/>
            <p:cNvGrpSpPr/>
            <p:nvPr/>
          </p:nvGrpSpPr>
          <p:grpSpPr>
            <a:xfrm>
              <a:off x="4624251" y="2024742"/>
              <a:ext cx="7197634" cy="6204858"/>
              <a:chOff x="3079751" y="1354137"/>
              <a:chExt cx="4794559" cy="4105276"/>
            </a:xfrm>
          </p:grpSpPr>
          <p:sp>
            <p:nvSpPr>
              <p:cNvPr id="5" name="Freeform 4"/>
              <p:cNvSpPr>
                <a:spLocks/>
              </p:cNvSpPr>
              <p:nvPr/>
            </p:nvSpPr>
            <p:spPr bwMode="blackWhite">
              <a:xfrm>
                <a:off x="3411537" y="1354137"/>
                <a:ext cx="3703638" cy="1739900"/>
              </a:xfrm>
              <a:custGeom>
                <a:avLst/>
                <a:gdLst>
                  <a:gd name="T0" fmla="*/ 983 w 1553"/>
                  <a:gd name="T1" fmla="*/ 584 h 753"/>
                  <a:gd name="T2" fmla="*/ 1417 w 1553"/>
                  <a:gd name="T3" fmla="*/ 541 h 753"/>
                  <a:gd name="T4" fmla="*/ 1552 w 1553"/>
                  <a:gd name="T5" fmla="*/ 150 h 753"/>
                  <a:gd name="T6" fmla="*/ 1447 w 1553"/>
                  <a:gd name="T7" fmla="*/ 227 h 753"/>
                  <a:gd name="T8" fmla="*/ 1398 w 1553"/>
                  <a:gd name="T9" fmla="*/ 186 h 753"/>
                  <a:gd name="T10" fmla="*/ 1347 w 1553"/>
                  <a:gd name="T11" fmla="*/ 149 h 753"/>
                  <a:gd name="T12" fmla="*/ 1294 w 1553"/>
                  <a:gd name="T13" fmla="*/ 116 h 753"/>
                  <a:gd name="T14" fmla="*/ 1238 w 1553"/>
                  <a:gd name="T15" fmla="*/ 87 h 753"/>
                  <a:gd name="T16" fmla="*/ 1181 w 1553"/>
                  <a:gd name="T17" fmla="*/ 61 h 753"/>
                  <a:gd name="T18" fmla="*/ 1122 w 1553"/>
                  <a:gd name="T19" fmla="*/ 41 h 753"/>
                  <a:gd name="T20" fmla="*/ 1060 w 1553"/>
                  <a:gd name="T21" fmla="*/ 23 h 753"/>
                  <a:gd name="T22" fmla="*/ 999 w 1553"/>
                  <a:gd name="T23" fmla="*/ 12 h 753"/>
                  <a:gd name="T24" fmla="*/ 936 w 1553"/>
                  <a:gd name="T25" fmla="*/ 4 h 753"/>
                  <a:gd name="T26" fmla="*/ 873 w 1553"/>
                  <a:gd name="T27" fmla="*/ 0 h 753"/>
                  <a:gd name="T28" fmla="*/ 810 w 1553"/>
                  <a:gd name="T29" fmla="*/ 2 h 753"/>
                  <a:gd name="T30" fmla="*/ 748 w 1553"/>
                  <a:gd name="T31" fmla="*/ 8 h 753"/>
                  <a:gd name="T32" fmla="*/ 685 w 1553"/>
                  <a:gd name="T33" fmla="*/ 19 h 753"/>
                  <a:gd name="T34" fmla="*/ 624 w 1553"/>
                  <a:gd name="T35" fmla="*/ 34 h 753"/>
                  <a:gd name="T36" fmla="*/ 564 w 1553"/>
                  <a:gd name="T37" fmla="*/ 53 h 753"/>
                  <a:gd name="T38" fmla="*/ 506 w 1553"/>
                  <a:gd name="T39" fmla="*/ 76 h 753"/>
                  <a:gd name="T40" fmla="*/ 449 w 1553"/>
                  <a:gd name="T41" fmla="*/ 104 h 753"/>
                  <a:gd name="T42" fmla="*/ 395 w 1553"/>
                  <a:gd name="T43" fmla="*/ 137 h 753"/>
                  <a:gd name="T44" fmla="*/ 342 w 1553"/>
                  <a:gd name="T45" fmla="*/ 172 h 753"/>
                  <a:gd name="T46" fmla="*/ 294 w 1553"/>
                  <a:gd name="T47" fmla="*/ 212 h 753"/>
                  <a:gd name="T48" fmla="*/ 248 w 1553"/>
                  <a:gd name="T49" fmla="*/ 254 h 753"/>
                  <a:gd name="T50" fmla="*/ 205 w 1553"/>
                  <a:gd name="T51" fmla="*/ 301 h 753"/>
                  <a:gd name="T52" fmla="*/ 165 w 1553"/>
                  <a:gd name="T53" fmla="*/ 350 h 753"/>
                  <a:gd name="T54" fmla="*/ 130 w 1553"/>
                  <a:gd name="T55" fmla="*/ 401 h 753"/>
                  <a:gd name="T56" fmla="*/ 98 w 1553"/>
                  <a:gd name="T57" fmla="*/ 456 h 753"/>
                  <a:gd name="T58" fmla="*/ 71 w 1553"/>
                  <a:gd name="T59" fmla="*/ 512 h 753"/>
                  <a:gd name="T60" fmla="*/ 46 w 1553"/>
                  <a:gd name="T61" fmla="*/ 570 h 753"/>
                  <a:gd name="T62" fmla="*/ 27 w 1553"/>
                  <a:gd name="T63" fmla="*/ 631 h 753"/>
                  <a:gd name="T64" fmla="*/ 11 w 1553"/>
                  <a:gd name="T65" fmla="*/ 692 h 753"/>
                  <a:gd name="T66" fmla="*/ 0 w 1553"/>
                  <a:gd name="T67" fmla="*/ 752 h 753"/>
                  <a:gd name="T68" fmla="*/ 222 w 1553"/>
                  <a:gd name="T69" fmla="*/ 608 h 753"/>
                  <a:gd name="T70" fmla="*/ 440 w 1553"/>
                  <a:gd name="T71" fmla="*/ 749 h 753"/>
                  <a:gd name="T72" fmla="*/ 455 w 1553"/>
                  <a:gd name="T73" fmla="*/ 710 h 753"/>
                  <a:gd name="T74" fmla="*/ 474 w 1553"/>
                  <a:gd name="T75" fmla="*/ 670 h 753"/>
                  <a:gd name="T76" fmla="*/ 498 w 1553"/>
                  <a:gd name="T77" fmla="*/ 632 h 753"/>
                  <a:gd name="T78" fmla="*/ 525 w 1553"/>
                  <a:gd name="T79" fmla="*/ 596 h 753"/>
                  <a:gd name="T80" fmla="*/ 556 w 1553"/>
                  <a:gd name="T81" fmla="*/ 563 h 753"/>
                  <a:gd name="T82" fmla="*/ 589 w 1553"/>
                  <a:gd name="T83" fmla="*/ 533 h 753"/>
                  <a:gd name="T84" fmla="*/ 626 w 1553"/>
                  <a:gd name="T85" fmla="*/ 507 h 753"/>
                  <a:gd name="T86" fmla="*/ 665 w 1553"/>
                  <a:gd name="T87" fmla="*/ 485 h 753"/>
                  <a:gd name="T88" fmla="*/ 706 w 1553"/>
                  <a:gd name="T89" fmla="*/ 467 h 753"/>
                  <a:gd name="T90" fmla="*/ 749 w 1553"/>
                  <a:gd name="T91" fmla="*/ 453 h 753"/>
                  <a:gd name="T92" fmla="*/ 793 w 1553"/>
                  <a:gd name="T93" fmla="*/ 443 h 753"/>
                  <a:gd name="T94" fmla="*/ 837 w 1553"/>
                  <a:gd name="T95" fmla="*/ 438 h 753"/>
                  <a:gd name="T96" fmla="*/ 882 w 1553"/>
                  <a:gd name="T97" fmla="*/ 438 h 753"/>
                  <a:gd name="T98" fmla="*/ 927 w 1553"/>
                  <a:gd name="T99" fmla="*/ 442 h 753"/>
                  <a:gd name="T100" fmla="*/ 971 w 1553"/>
                  <a:gd name="T101" fmla="*/ 450 h 753"/>
                  <a:gd name="T102" fmla="*/ 1014 w 1553"/>
                  <a:gd name="T103" fmla="*/ 464 h 753"/>
                  <a:gd name="T104" fmla="*/ 1055 w 1553"/>
                  <a:gd name="T105" fmla="*/ 480 h 753"/>
                  <a:gd name="T106" fmla="*/ 1095 w 1553"/>
                  <a:gd name="T107" fmla="*/ 502 h 753"/>
                  <a:gd name="T108" fmla="*/ 983 w 1553"/>
                  <a:gd name="T109" fmla="*/ 584 h 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553" h="753">
                    <a:moveTo>
                      <a:pt x="983" y="584"/>
                    </a:moveTo>
                    <a:lnTo>
                      <a:pt x="1417" y="541"/>
                    </a:lnTo>
                    <a:lnTo>
                      <a:pt x="1552" y="150"/>
                    </a:lnTo>
                    <a:lnTo>
                      <a:pt x="1447" y="227"/>
                    </a:lnTo>
                    <a:lnTo>
                      <a:pt x="1398" y="186"/>
                    </a:lnTo>
                    <a:lnTo>
                      <a:pt x="1347" y="149"/>
                    </a:lnTo>
                    <a:lnTo>
                      <a:pt x="1294" y="116"/>
                    </a:lnTo>
                    <a:lnTo>
                      <a:pt x="1238" y="87"/>
                    </a:lnTo>
                    <a:lnTo>
                      <a:pt x="1181" y="61"/>
                    </a:lnTo>
                    <a:lnTo>
                      <a:pt x="1122" y="41"/>
                    </a:lnTo>
                    <a:lnTo>
                      <a:pt x="1060" y="23"/>
                    </a:lnTo>
                    <a:lnTo>
                      <a:pt x="999" y="12"/>
                    </a:lnTo>
                    <a:lnTo>
                      <a:pt x="936" y="4"/>
                    </a:lnTo>
                    <a:lnTo>
                      <a:pt x="873" y="0"/>
                    </a:lnTo>
                    <a:lnTo>
                      <a:pt x="810" y="2"/>
                    </a:lnTo>
                    <a:lnTo>
                      <a:pt x="748" y="8"/>
                    </a:lnTo>
                    <a:lnTo>
                      <a:pt x="685" y="19"/>
                    </a:lnTo>
                    <a:lnTo>
                      <a:pt x="624" y="34"/>
                    </a:lnTo>
                    <a:lnTo>
                      <a:pt x="564" y="53"/>
                    </a:lnTo>
                    <a:lnTo>
                      <a:pt x="506" y="76"/>
                    </a:lnTo>
                    <a:lnTo>
                      <a:pt x="449" y="104"/>
                    </a:lnTo>
                    <a:lnTo>
                      <a:pt x="395" y="137"/>
                    </a:lnTo>
                    <a:lnTo>
                      <a:pt x="342" y="172"/>
                    </a:lnTo>
                    <a:lnTo>
                      <a:pt x="294" y="212"/>
                    </a:lnTo>
                    <a:lnTo>
                      <a:pt x="248" y="254"/>
                    </a:lnTo>
                    <a:lnTo>
                      <a:pt x="205" y="301"/>
                    </a:lnTo>
                    <a:lnTo>
                      <a:pt x="165" y="350"/>
                    </a:lnTo>
                    <a:lnTo>
                      <a:pt x="130" y="401"/>
                    </a:lnTo>
                    <a:lnTo>
                      <a:pt x="98" y="456"/>
                    </a:lnTo>
                    <a:lnTo>
                      <a:pt x="71" y="512"/>
                    </a:lnTo>
                    <a:lnTo>
                      <a:pt x="46" y="570"/>
                    </a:lnTo>
                    <a:lnTo>
                      <a:pt x="27" y="631"/>
                    </a:lnTo>
                    <a:lnTo>
                      <a:pt x="11" y="692"/>
                    </a:lnTo>
                    <a:lnTo>
                      <a:pt x="0" y="752"/>
                    </a:lnTo>
                    <a:lnTo>
                      <a:pt x="222" y="608"/>
                    </a:lnTo>
                    <a:lnTo>
                      <a:pt x="440" y="749"/>
                    </a:lnTo>
                    <a:lnTo>
                      <a:pt x="455" y="710"/>
                    </a:lnTo>
                    <a:lnTo>
                      <a:pt x="474" y="670"/>
                    </a:lnTo>
                    <a:lnTo>
                      <a:pt x="498" y="632"/>
                    </a:lnTo>
                    <a:lnTo>
                      <a:pt x="525" y="596"/>
                    </a:lnTo>
                    <a:lnTo>
                      <a:pt x="556" y="563"/>
                    </a:lnTo>
                    <a:lnTo>
                      <a:pt x="589" y="533"/>
                    </a:lnTo>
                    <a:lnTo>
                      <a:pt x="626" y="507"/>
                    </a:lnTo>
                    <a:lnTo>
                      <a:pt x="665" y="485"/>
                    </a:lnTo>
                    <a:lnTo>
                      <a:pt x="706" y="467"/>
                    </a:lnTo>
                    <a:lnTo>
                      <a:pt x="749" y="453"/>
                    </a:lnTo>
                    <a:lnTo>
                      <a:pt x="793" y="443"/>
                    </a:lnTo>
                    <a:lnTo>
                      <a:pt x="837" y="438"/>
                    </a:lnTo>
                    <a:lnTo>
                      <a:pt x="882" y="438"/>
                    </a:lnTo>
                    <a:lnTo>
                      <a:pt x="927" y="442"/>
                    </a:lnTo>
                    <a:lnTo>
                      <a:pt x="971" y="450"/>
                    </a:lnTo>
                    <a:lnTo>
                      <a:pt x="1014" y="464"/>
                    </a:lnTo>
                    <a:lnTo>
                      <a:pt x="1055" y="480"/>
                    </a:lnTo>
                    <a:lnTo>
                      <a:pt x="1095" y="502"/>
                    </a:lnTo>
                    <a:lnTo>
                      <a:pt x="983" y="584"/>
                    </a:lnTo>
                  </a:path>
                </a:pathLst>
              </a:custGeom>
              <a:solidFill>
                <a:srgbClr val="3EB496"/>
              </a:solidFill>
              <a:ln w="12700" cap="rnd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uperspace Bold" panose="02000000000000000000" pitchFamily="2" charset="0"/>
                  <a:ea typeface="+mn-ea"/>
                  <a:cs typeface="Superspace Bold" panose="02000000000000000000" pitchFamily="2" charset="0"/>
                </a:endParaRPr>
              </a:p>
            </p:txBody>
          </p:sp>
          <p:sp>
            <p:nvSpPr>
              <p:cNvPr id="6" name="Freeform 4"/>
              <p:cNvSpPr>
                <a:spLocks/>
              </p:cNvSpPr>
              <p:nvPr/>
            </p:nvSpPr>
            <p:spPr bwMode="blackWhite">
              <a:xfrm>
                <a:off x="3079751" y="2889249"/>
                <a:ext cx="2911475" cy="2471738"/>
              </a:xfrm>
              <a:custGeom>
                <a:avLst/>
                <a:gdLst>
                  <a:gd name="T0" fmla="*/ 1220 w 1221"/>
                  <a:gd name="T1" fmla="*/ 1042 h 1071"/>
                  <a:gd name="T2" fmla="*/ 1002 w 1221"/>
                  <a:gd name="T3" fmla="*/ 847 h 1071"/>
                  <a:gd name="T4" fmla="*/ 1081 w 1221"/>
                  <a:gd name="T5" fmla="*/ 630 h 1071"/>
                  <a:gd name="T6" fmla="*/ 1038 w 1221"/>
                  <a:gd name="T7" fmla="*/ 635 h 1071"/>
                  <a:gd name="T8" fmla="*/ 994 w 1221"/>
                  <a:gd name="T9" fmla="*/ 636 h 1071"/>
                  <a:gd name="T10" fmla="*/ 950 w 1221"/>
                  <a:gd name="T11" fmla="*/ 634 h 1071"/>
                  <a:gd name="T12" fmla="*/ 906 w 1221"/>
                  <a:gd name="T13" fmla="*/ 626 h 1071"/>
                  <a:gd name="T14" fmla="*/ 865 w 1221"/>
                  <a:gd name="T15" fmla="*/ 614 h 1071"/>
                  <a:gd name="T16" fmla="*/ 823 w 1221"/>
                  <a:gd name="T17" fmla="*/ 599 h 1071"/>
                  <a:gd name="T18" fmla="*/ 784 w 1221"/>
                  <a:gd name="T19" fmla="*/ 579 h 1071"/>
                  <a:gd name="T20" fmla="*/ 747 w 1221"/>
                  <a:gd name="T21" fmla="*/ 556 h 1071"/>
                  <a:gd name="T22" fmla="*/ 713 w 1221"/>
                  <a:gd name="T23" fmla="*/ 528 h 1071"/>
                  <a:gd name="T24" fmla="*/ 682 w 1221"/>
                  <a:gd name="T25" fmla="*/ 496 h 1071"/>
                  <a:gd name="T26" fmla="*/ 653 w 1221"/>
                  <a:gd name="T27" fmla="*/ 463 h 1071"/>
                  <a:gd name="T28" fmla="*/ 629 w 1221"/>
                  <a:gd name="T29" fmla="*/ 427 h 1071"/>
                  <a:gd name="T30" fmla="*/ 609 w 1221"/>
                  <a:gd name="T31" fmla="*/ 390 h 1071"/>
                  <a:gd name="T32" fmla="*/ 594 w 1221"/>
                  <a:gd name="T33" fmla="*/ 352 h 1071"/>
                  <a:gd name="T34" fmla="*/ 581 w 1221"/>
                  <a:gd name="T35" fmla="*/ 314 h 1071"/>
                  <a:gd name="T36" fmla="*/ 573 w 1221"/>
                  <a:gd name="T37" fmla="*/ 273 h 1071"/>
                  <a:gd name="T38" fmla="*/ 568 w 1221"/>
                  <a:gd name="T39" fmla="*/ 232 h 1071"/>
                  <a:gd name="T40" fmla="*/ 712 w 1221"/>
                  <a:gd name="T41" fmla="*/ 232 h 1071"/>
                  <a:gd name="T42" fmla="*/ 368 w 1221"/>
                  <a:gd name="T43" fmla="*/ 0 h 1071"/>
                  <a:gd name="T44" fmla="*/ 0 w 1221"/>
                  <a:gd name="T45" fmla="*/ 235 h 1071"/>
                  <a:gd name="T46" fmla="*/ 134 w 1221"/>
                  <a:gd name="T47" fmla="*/ 234 h 1071"/>
                  <a:gd name="T48" fmla="*/ 139 w 1221"/>
                  <a:gd name="T49" fmla="*/ 296 h 1071"/>
                  <a:gd name="T50" fmla="*/ 148 w 1221"/>
                  <a:gd name="T51" fmla="*/ 358 h 1071"/>
                  <a:gd name="T52" fmla="*/ 161 w 1221"/>
                  <a:gd name="T53" fmla="*/ 419 h 1071"/>
                  <a:gd name="T54" fmla="*/ 178 w 1221"/>
                  <a:gd name="T55" fmla="*/ 479 h 1071"/>
                  <a:gd name="T56" fmla="*/ 200 w 1221"/>
                  <a:gd name="T57" fmla="*/ 538 h 1071"/>
                  <a:gd name="T58" fmla="*/ 227 w 1221"/>
                  <a:gd name="T59" fmla="*/ 595 h 1071"/>
                  <a:gd name="T60" fmla="*/ 257 w 1221"/>
                  <a:gd name="T61" fmla="*/ 650 h 1071"/>
                  <a:gd name="T62" fmla="*/ 291 w 1221"/>
                  <a:gd name="T63" fmla="*/ 702 h 1071"/>
                  <a:gd name="T64" fmla="*/ 328 w 1221"/>
                  <a:gd name="T65" fmla="*/ 751 h 1071"/>
                  <a:gd name="T66" fmla="*/ 369 w 1221"/>
                  <a:gd name="T67" fmla="*/ 797 h 1071"/>
                  <a:gd name="T68" fmla="*/ 413 w 1221"/>
                  <a:gd name="T69" fmla="*/ 841 h 1071"/>
                  <a:gd name="T70" fmla="*/ 459 w 1221"/>
                  <a:gd name="T71" fmla="*/ 882 h 1071"/>
                  <a:gd name="T72" fmla="*/ 509 w 1221"/>
                  <a:gd name="T73" fmla="*/ 919 h 1071"/>
                  <a:gd name="T74" fmla="*/ 562 w 1221"/>
                  <a:gd name="T75" fmla="*/ 951 h 1071"/>
                  <a:gd name="T76" fmla="*/ 617 w 1221"/>
                  <a:gd name="T77" fmla="*/ 981 h 1071"/>
                  <a:gd name="T78" fmla="*/ 673 w 1221"/>
                  <a:gd name="T79" fmla="*/ 1007 h 1071"/>
                  <a:gd name="T80" fmla="*/ 732 w 1221"/>
                  <a:gd name="T81" fmla="*/ 1027 h 1071"/>
                  <a:gd name="T82" fmla="*/ 791 w 1221"/>
                  <a:gd name="T83" fmla="*/ 1045 h 1071"/>
                  <a:gd name="T84" fmla="*/ 852 w 1221"/>
                  <a:gd name="T85" fmla="*/ 1057 h 1071"/>
                  <a:gd name="T86" fmla="*/ 913 w 1221"/>
                  <a:gd name="T87" fmla="*/ 1067 h 1071"/>
                  <a:gd name="T88" fmla="*/ 975 w 1221"/>
                  <a:gd name="T89" fmla="*/ 1070 h 1071"/>
                  <a:gd name="T90" fmla="*/ 1037 w 1221"/>
                  <a:gd name="T91" fmla="*/ 1070 h 1071"/>
                  <a:gd name="T92" fmla="*/ 1098 w 1221"/>
                  <a:gd name="T93" fmla="*/ 1066 h 1071"/>
                  <a:gd name="T94" fmla="*/ 1160 w 1221"/>
                  <a:gd name="T95" fmla="*/ 1056 h 1071"/>
                  <a:gd name="T96" fmla="*/ 1220 w 1221"/>
                  <a:gd name="T97" fmla="*/ 1042 h 10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21" h="1071">
                    <a:moveTo>
                      <a:pt x="1220" y="1042"/>
                    </a:moveTo>
                    <a:lnTo>
                      <a:pt x="1002" y="847"/>
                    </a:lnTo>
                    <a:lnTo>
                      <a:pt x="1081" y="630"/>
                    </a:lnTo>
                    <a:lnTo>
                      <a:pt x="1038" y="635"/>
                    </a:lnTo>
                    <a:lnTo>
                      <a:pt x="994" y="636"/>
                    </a:lnTo>
                    <a:lnTo>
                      <a:pt x="950" y="634"/>
                    </a:lnTo>
                    <a:lnTo>
                      <a:pt x="906" y="626"/>
                    </a:lnTo>
                    <a:lnTo>
                      <a:pt x="865" y="614"/>
                    </a:lnTo>
                    <a:lnTo>
                      <a:pt x="823" y="599"/>
                    </a:lnTo>
                    <a:lnTo>
                      <a:pt x="784" y="579"/>
                    </a:lnTo>
                    <a:lnTo>
                      <a:pt x="747" y="556"/>
                    </a:lnTo>
                    <a:lnTo>
                      <a:pt x="713" y="528"/>
                    </a:lnTo>
                    <a:lnTo>
                      <a:pt x="682" y="496"/>
                    </a:lnTo>
                    <a:lnTo>
                      <a:pt x="653" y="463"/>
                    </a:lnTo>
                    <a:lnTo>
                      <a:pt x="629" y="427"/>
                    </a:lnTo>
                    <a:lnTo>
                      <a:pt x="609" y="390"/>
                    </a:lnTo>
                    <a:lnTo>
                      <a:pt x="594" y="352"/>
                    </a:lnTo>
                    <a:lnTo>
                      <a:pt x="581" y="314"/>
                    </a:lnTo>
                    <a:lnTo>
                      <a:pt x="573" y="273"/>
                    </a:lnTo>
                    <a:lnTo>
                      <a:pt x="568" y="232"/>
                    </a:lnTo>
                    <a:lnTo>
                      <a:pt x="712" y="232"/>
                    </a:lnTo>
                    <a:lnTo>
                      <a:pt x="368" y="0"/>
                    </a:lnTo>
                    <a:lnTo>
                      <a:pt x="0" y="235"/>
                    </a:lnTo>
                    <a:lnTo>
                      <a:pt x="134" y="234"/>
                    </a:lnTo>
                    <a:lnTo>
                      <a:pt x="139" y="296"/>
                    </a:lnTo>
                    <a:lnTo>
                      <a:pt x="148" y="358"/>
                    </a:lnTo>
                    <a:lnTo>
                      <a:pt x="161" y="419"/>
                    </a:lnTo>
                    <a:lnTo>
                      <a:pt x="178" y="479"/>
                    </a:lnTo>
                    <a:lnTo>
                      <a:pt x="200" y="538"/>
                    </a:lnTo>
                    <a:lnTo>
                      <a:pt x="227" y="595"/>
                    </a:lnTo>
                    <a:lnTo>
                      <a:pt x="257" y="650"/>
                    </a:lnTo>
                    <a:lnTo>
                      <a:pt x="291" y="702"/>
                    </a:lnTo>
                    <a:lnTo>
                      <a:pt x="328" y="751"/>
                    </a:lnTo>
                    <a:lnTo>
                      <a:pt x="369" y="797"/>
                    </a:lnTo>
                    <a:lnTo>
                      <a:pt x="413" y="841"/>
                    </a:lnTo>
                    <a:lnTo>
                      <a:pt x="459" y="882"/>
                    </a:lnTo>
                    <a:lnTo>
                      <a:pt x="509" y="919"/>
                    </a:lnTo>
                    <a:lnTo>
                      <a:pt x="562" y="951"/>
                    </a:lnTo>
                    <a:lnTo>
                      <a:pt x="617" y="981"/>
                    </a:lnTo>
                    <a:lnTo>
                      <a:pt x="673" y="1007"/>
                    </a:lnTo>
                    <a:lnTo>
                      <a:pt x="732" y="1027"/>
                    </a:lnTo>
                    <a:lnTo>
                      <a:pt x="791" y="1045"/>
                    </a:lnTo>
                    <a:lnTo>
                      <a:pt x="852" y="1057"/>
                    </a:lnTo>
                    <a:lnTo>
                      <a:pt x="913" y="1067"/>
                    </a:lnTo>
                    <a:lnTo>
                      <a:pt x="975" y="1070"/>
                    </a:lnTo>
                    <a:lnTo>
                      <a:pt x="1037" y="1070"/>
                    </a:lnTo>
                    <a:lnTo>
                      <a:pt x="1098" y="1066"/>
                    </a:lnTo>
                    <a:lnTo>
                      <a:pt x="1160" y="1056"/>
                    </a:lnTo>
                    <a:lnTo>
                      <a:pt x="1220" y="1042"/>
                    </a:lnTo>
                  </a:path>
                </a:pathLst>
              </a:custGeom>
              <a:solidFill>
                <a:srgbClr val="3EB496"/>
              </a:solidFill>
              <a:ln w="12700" cap="rnd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uperspace Bold" panose="02000000000000000000" pitchFamily="2" charset="0"/>
                  <a:ea typeface="+mn-ea"/>
                  <a:cs typeface="Superspace Bold" panose="02000000000000000000" pitchFamily="2" charset="0"/>
                </a:endParaRPr>
              </a:p>
            </p:txBody>
          </p:sp>
          <p:sp>
            <p:nvSpPr>
              <p:cNvPr id="7" name="Freeform 5"/>
              <p:cNvSpPr>
                <a:spLocks/>
              </p:cNvSpPr>
              <p:nvPr/>
            </p:nvSpPr>
            <p:spPr bwMode="blackWhite">
              <a:xfrm>
                <a:off x="5638800" y="2133600"/>
                <a:ext cx="1890712" cy="3325813"/>
              </a:xfrm>
              <a:custGeom>
                <a:avLst/>
                <a:gdLst>
                  <a:gd name="T0" fmla="*/ 286 w 793"/>
                  <a:gd name="T1" fmla="*/ 1316 h 1440"/>
                  <a:gd name="T2" fmla="*/ 340 w 793"/>
                  <a:gd name="T3" fmla="*/ 1290 h 1440"/>
                  <a:gd name="T4" fmla="*/ 392 w 793"/>
                  <a:gd name="T5" fmla="*/ 1260 h 1440"/>
                  <a:gd name="T6" fmla="*/ 442 w 793"/>
                  <a:gd name="T7" fmla="*/ 1225 h 1440"/>
                  <a:gd name="T8" fmla="*/ 490 w 793"/>
                  <a:gd name="T9" fmla="*/ 1187 h 1440"/>
                  <a:gd name="T10" fmla="*/ 535 w 793"/>
                  <a:gd name="T11" fmla="*/ 1146 h 1440"/>
                  <a:gd name="T12" fmla="*/ 576 w 793"/>
                  <a:gd name="T13" fmla="*/ 1102 h 1440"/>
                  <a:gd name="T14" fmla="*/ 616 w 793"/>
                  <a:gd name="T15" fmla="*/ 1055 h 1440"/>
                  <a:gd name="T16" fmla="*/ 650 w 793"/>
                  <a:gd name="T17" fmla="*/ 1005 h 1440"/>
                  <a:gd name="T18" fmla="*/ 682 w 793"/>
                  <a:gd name="T19" fmla="*/ 953 h 1440"/>
                  <a:gd name="T20" fmla="*/ 709 w 793"/>
                  <a:gd name="T21" fmla="*/ 900 h 1440"/>
                  <a:gd name="T22" fmla="*/ 734 w 793"/>
                  <a:gd name="T23" fmla="*/ 844 h 1440"/>
                  <a:gd name="T24" fmla="*/ 753 w 793"/>
                  <a:gd name="T25" fmla="*/ 786 h 1440"/>
                  <a:gd name="T26" fmla="*/ 770 w 793"/>
                  <a:gd name="T27" fmla="*/ 727 h 1440"/>
                  <a:gd name="T28" fmla="*/ 781 w 793"/>
                  <a:gd name="T29" fmla="*/ 668 h 1440"/>
                  <a:gd name="T30" fmla="*/ 789 w 793"/>
                  <a:gd name="T31" fmla="*/ 608 h 1440"/>
                  <a:gd name="T32" fmla="*/ 792 w 793"/>
                  <a:gd name="T33" fmla="*/ 547 h 1440"/>
                  <a:gd name="T34" fmla="*/ 790 w 793"/>
                  <a:gd name="T35" fmla="*/ 487 h 1440"/>
                  <a:gd name="T36" fmla="*/ 786 w 793"/>
                  <a:gd name="T37" fmla="*/ 427 h 1440"/>
                  <a:gd name="T38" fmla="*/ 775 w 793"/>
                  <a:gd name="T39" fmla="*/ 367 h 1440"/>
                  <a:gd name="T40" fmla="*/ 762 w 793"/>
                  <a:gd name="T41" fmla="*/ 308 h 1440"/>
                  <a:gd name="T42" fmla="*/ 744 w 793"/>
                  <a:gd name="T43" fmla="*/ 249 h 1440"/>
                  <a:gd name="T44" fmla="*/ 722 w 793"/>
                  <a:gd name="T45" fmla="*/ 193 h 1440"/>
                  <a:gd name="T46" fmla="*/ 697 w 793"/>
                  <a:gd name="T47" fmla="*/ 137 h 1440"/>
                  <a:gd name="T48" fmla="*/ 667 w 793"/>
                  <a:gd name="T49" fmla="*/ 84 h 1440"/>
                  <a:gd name="T50" fmla="*/ 639 w 793"/>
                  <a:gd name="T51" fmla="*/ 41 h 1440"/>
                  <a:gd name="T52" fmla="*/ 609 w 793"/>
                  <a:gd name="T53" fmla="*/ 0 h 1440"/>
                  <a:gd name="T54" fmla="*/ 521 w 793"/>
                  <a:gd name="T55" fmla="*/ 247 h 1440"/>
                  <a:gd name="T56" fmla="*/ 277 w 793"/>
                  <a:gd name="T57" fmla="*/ 280 h 1440"/>
                  <a:gd name="T58" fmla="*/ 294 w 793"/>
                  <a:gd name="T59" fmla="*/ 308 h 1440"/>
                  <a:gd name="T60" fmla="*/ 316 w 793"/>
                  <a:gd name="T61" fmla="*/ 347 h 1440"/>
                  <a:gd name="T62" fmla="*/ 332 w 793"/>
                  <a:gd name="T63" fmla="*/ 389 h 1440"/>
                  <a:gd name="T64" fmla="*/ 345 w 793"/>
                  <a:gd name="T65" fmla="*/ 431 h 1440"/>
                  <a:gd name="T66" fmla="*/ 353 w 793"/>
                  <a:gd name="T67" fmla="*/ 475 h 1440"/>
                  <a:gd name="T68" fmla="*/ 357 w 793"/>
                  <a:gd name="T69" fmla="*/ 519 h 1440"/>
                  <a:gd name="T70" fmla="*/ 355 w 793"/>
                  <a:gd name="T71" fmla="*/ 564 h 1440"/>
                  <a:gd name="T72" fmla="*/ 350 w 793"/>
                  <a:gd name="T73" fmla="*/ 608 h 1440"/>
                  <a:gd name="T74" fmla="*/ 339 w 793"/>
                  <a:gd name="T75" fmla="*/ 652 h 1440"/>
                  <a:gd name="T76" fmla="*/ 325 w 793"/>
                  <a:gd name="T77" fmla="*/ 694 h 1440"/>
                  <a:gd name="T78" fmla="*/ 306 w 793"/>
                  <a:gd name="T79" fmla="*/ 734 h 1440"/>
                  <a:gd name="T80" fmla="*/ 284 w 793"/>
                  <a:gd name="T81" fmla="*/ 772 h 1440"/>
                  <a:gd name="T82" fmla="*/ 257 w 793"/>
                  <a:gd name="T83" fmla="*/ 808 h 1440"/>
                  <a:gd name="T84" fmla="*/ 227 w 793"/>
                  <a:gd name="T85" fmla="*/ 841 h 1440"/>
                  <a:gd name="T86" fmla="*/ 193 w 793"/>
                  <a:gd name="T87" fmla="*/ 871 h 1440"/>
                  <a:gd name="T88" fmla="*/ 156 w 793"/>
                  <a:gd name="T89" fmla="*/ 896 h 1440"/>
                  <a:gd name="T90" fmla="*/ 113 w 793"/>
                  <a:gd name="T91" fmla="*/ 761 h 1440"/>
                  <a:gd name="T92" fmla="*/ 0 w 793"/>
                  <a:gd name="T93" fmla="*/ 1169 h 1440"/>
                  <a:gd name="T94" fmla="*/ 321 w 793"/>
                  <a:gd name="T95" fmla="*/ 1439 h 1440"/>
                  <a:gd name="T96" fmla="*/ 286 w 793"/>
                  <a:gd name="T97" fmla="*/ 1316 h 1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93" h="1440">
                    <a:moveTo>
                      <a:pt x="286" y="1316"/>
                    </a:moveTo>
                    <a:lnTo>
                      <a:pt x="340" y="1290"/>
                    </a:lnTo>
                    <a:lnTo>
                      <a:pt x="392" y="1260"/>
                    </a:lnTo>
                    <a:lnTo>
                      <a:pt x="442" y="1225"/>
                    </a:lnTo>
                    <a:lnTo>
                      <a:pt x="490" y="1187"/>
                    </a:lnTo>
                    <a:lnTo>
                      <a:pt x="535" y="1146"/>
                    </a:lnTo>
                    <a:lnTo>
                      <a:pt x="576" y="1102"/>
                    </a:lnTo>
                    <a:lnTo>
                      <a:pt x="616" y="1055"/>
                    </a:lnTo>
                    <a:lnTo>
                      <a:pt x="650" y="1005"/>
                    </a:lnTo>
                    <a:lnTo>
                      <a:pt x="682" y="953"/>
                    </a:lnTo>
                    <a:lnTo>
                      <a:pt x="709" y="900"/>
                    </a:lnTo>
                    <a:lnTo>
                      <a:pt x="734" y="844"/>
                    </a:lnTo>
                    <a:lnTo>
                      <a:pt x="753" y="786"/>
                    </a:lnTo>
                    <a:lnTo>
                      <a:pt x="770" y="727"/>
                    </a:lnTo>
                    <a:lnTo>
                      <a:pt x="781" y="668"/>
                    </a:lnTo>
                    <a:lnTo>
                      <a:pt x="789" y="608"/>
                    </a:lnTo>
                    <a:lnTo>
                      <a:pt x="792" y="547"/>
                    </a:lnTo>
                    <a:lnTo>
                      <a:pt x="790" y="487"/>
                    </a:lnTo>
                    <a:lnTo>
                      <a:pt x="786" y="427"/>
                    </a:lnTo>
                    <a:lnTo>
                      <a:pt x="775" y="367"/>
                    </a:lnTo>
                    <a:lnTo>
                      <a:pt x="762" y="308"/>
                    </a:lnTo>
                    <a:lnTo>
                      <a:pt x="744" y="249"/>
                    </a:lnTo>
                    <a:lnTo>
                      <a:pt x="722" y="193"/>
                    </a:lnTo>
                    <a:lnTo>
                      <a:pt x="697" y="137"/>
                    </a:lnTo>
                    <a:lnTo>
                      <a:pt x="667" y="84"/>
                    </a:lnTo>
                    <a:lnTo>
                      <a:pt x="639" y="41"/>
                    </a:lnTo>
                    <a:lnTo>
                      <a:pt x="609" y="0"/>
                    </a:lnTo>
                    <a:lnTo>
                      <a:pt x="521" y="247"/>
                    </a:lnTo>
                    <a:lnTo>
                      <a:pt x="277" y="280"/>
                    </a:lnTo>
                    <a:lnTo>
                      <a:pt x="294" y="308"/>
                    </a:lnTo>
                    <a:lnTo>
                      <a:pt x="316" y="347"/>
                    </a:lnTo>
                    <a:lnTo>
                      <a:pt x="332" y="389"/>
                    </a:lnTo>
                    <a:lnTo>
                      <a:pt x="345" y="431"/>
                    </a:lnTo>
                    <a:lnTo>
                      <a:pt x="353" y="475"/>
                    </a:lnTo>
                    <a:lnTo>
                      <a:pt x="357" y="519"/>
                    </a:lnTo>
                    <a:lnTo>
                      <a:pt x="355" y="564"/>
                    </a:lnTo>
                    <a:lnTo>
                      <a:pt x="350" y="608"/>
                    </a:lnTo>
                    <a:lnTo>
                      <a:pt x="339" y="652"/>
                    </a:lnTo>
                    <a:lnTo>
                      <a:pt x="325" y="694"/>
                    </a:lnTo>
                    <a:lnTo>
                      <a:pt x="306" y="734"/>
                    </a:lnTo>
                    <a:lnTo>
                      <a:pt x="284" y="772"/>
                    </a:lnTo>
                    <a:lnTo>
                      <a:pt x="257" y="808"/>
                    </a:lnTo>
                    <a:lnTo>
                      <a:pt x="227" y="841"/>
                    </a:lnTo>
                    <a:lnTo>
                      <a:pt x="193" y="871"/>
                    </a:lnTo>
                    <a:lnTo>
                      <a:pt x="156" y="896"/>
                    </a:lnTo>
                    <a:lnTo>
                      <a:pt x="113" y="761"/>
                    </a:lnTo>
                    <a:lnTo>
                      <a:pt x="0" y="1169"/>
                    </a:lnTo>
                    <a:lnTo>
                      <a:pt x="321" y="1439"/>
                    </a:lnTo>
                    <a:lnTo>
                      <a:pt x="286" y="1316"/>
                    </a:lnTo>
                  </a:path>
                </a:pathLst>
              </a:custGeom>
              <a:solidFill>
                <a:srgbClr val="3EB496"/>
              </a:solidFill>
              <a:ln w="12700" cap="rnd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uperspace Bold" panose="02000000000000000000" pitchFamily="2" charset="0"/>
                  <a:ea typeface="+mn-ea"/>
                  <a:cs typeface="Superspace Bold" panose="02000000000000000000" pitchFamily="2" charset="0"/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4397110" y="1744292"/>
                <a:ext cx="1828800" cy="325812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indent="0">
                  <a:spcBef>
                    <a:spcPct val="20000"/>
                  </a:spcBef>
                  <a:buFont typeface="Arial" pitchFamily="34" charset="0"/>
                  <a:buNone/>
                  <a:defRPr sz="16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228600" indent="-171450">
                  <a:spcBef>
                    <a:spcPct val="20000"/>
                  </a:spcBef>
                  <a:buFont typeface="Arial" pitchFamily="34" charset="0"/>
                  <a:buChar char="•"/>
                  <a:defRPr sz="1600">
                    <a:solidFill>
                      <a:schemeClr val="bg1">
                        <a:lumMod val="50000"/>
                      </a:schemeClr>
                    </a:solidFill>
                  </a:defRPr>
                </a:lvl2pPr>
                <a:lvl3pPr marL="400050" indent="-171450">
                  <a:spcBef>
                    <a:spcPct val="20000"/>
                  </a:spcBef>
                  <a:buFont typeface="Arial" pitchFamily="34" charset="0"/>
                  <a:buChar char="‒"/>
                  <a:defRPr sz="1600">
                    <a:solidFill>
                      <a:schemeClr val="bg1">
                        <a:lumMod val="50000"/>
                      </a:schemeClr>
                    </a:solidFill>
                  </a:defRPr>
                </a:lvl3pPr>
                <a:lvl4pPr marL="685800" indent="-228600">
                  <a:spcBef>
                    <a:spcPct val="20000"/>
                  </a:spcBef>
                  <a:buFont typeface="Courier New" pitchFamily="49" charset="0"/>
                  <a:buChar char="o"/>
                  <a:defRPr sz="1600">
                    <a:solidFill>
                      <a:schemeClr val="bg1">
                        <a:lumMod val="50000"/>
                      </a:schemeClr>
                    </a:solidFill>
                  </a:defRPr>
                </a:lvl4pPr>
                <a:lvl5pPr marL="857250" lvl="4" indent="-171450">
                  <a:spcBef>
                    <a:spcPct val="20000"/>
                  </a:spcBef>
                  <a:buFont typeface="Arial" pitchFamily="34" charset="0"/>
                  <a:buChar char="▪"/>
                  <a:defRPr sz="1600">
                    <a:solidFill>
                      <a:schemeClr val="bg1">
                        <a:lumMod val="50000"/>
                      </a:schemeClr>
                    </a:solidFill>
                  </a:defRPr>
                </a:lvl5pPr>
                <a:lvl6pPr marL="25146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6pPr>
                <a:lvl7pPr marL="29718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7pPr>
                <a:lvl8pPr marL="34290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8pPr>
                <a:lvl9pPr marL="38862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uperspace Bold" panose="02000000000000000000" pitchFamily="2" charset="0"/>
                    <a:ea typeface="+mn-ea"/>
                    <a:cs typeface="Superspace Bold" panose="02000000000000000000" pitchFamily="2" charset="0"/>
                  </a:rPr>
                  <a:t>Build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uperspace Bold" panose="02000000000000000000" pitchFamily="2" charset="0"/>
                  <a:ea typeface="+mn-ea"/>
                  <a:cs typeface="Superspace Bold" panose="02000000000000000000" pitchFamily="2" charset="0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045510" y="3632729"/>
                <a:ext cx="1828800" cy="325812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indent="0">
                  <a:spcBef>
                    <a:spcPct val="20000"/>
                  </a:spcBef>
                  <a:buFont typeface="Arial" pitchFamily="34" charset="0"/>
                  <a:buNone/>
                  <a:defRPr sz="16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228600" indent="-171450">
                  <a:spcBef>
                    <a:spcPct val="20000"/>
                  </a:spcBef>
                  <a:buFont typeface="Arial" pitchFamily="34" charset="0"/>
                  <a:buChar char="•"/>
                  <a:defRPr sz="1600">
                    <a:solidFill>
                      <a:schemeClr val="bg1">
                        <a:lumMod val="50000"/>
                      </a:schemeClr>
                    </a:solidFill>
                  </a:defRPr>
                </a:lvl2pPr>
                <a:lvl3pPr marL="400050" indent="-171450">
                  <a:spcBef>
                    <a:spcPct val="20000"/>
                  </a:spcBef>
                  <a:buFont typeface="Arial" pitchFamily="34" charset="0"/>
                  <a:buChar char="‒"/>
                  <a:defRPr sz="1600">
                    <a:solidFill>
                      <a:schemeClr val="bg1">
                        <a:lumMod val="50000"/>
                      </a:schemeClr>
                    </a:solidFill>
                  </a:defRPr>
                </a:lvl3pPr>
                <a:lvl4pPr marL="685800" indent="-228600">
                  <a:spcBef>
                    <a:spcPct val="20000"/>
                  </a:spcBef>
                  <a:buFont typeface="Courier New" pitchFamily="49" charset="0"/>
                  <a:buChar char="o"/>
                  <a:defRPr sz="1600">
                    <a:solidFill>
                      <a:schemeClr val="bg1">
                        <a:lumMod val="50000"/>
                      </a:schemeClr>
                    </a:solidFill>
                  </a:defRPr>
                </a:lvl4pPr>
                <a:lvl5pPr marL="857250" lvl="4" indent="-171450">
                  <a:spcBef>
                    <a:spcPct val="20000"/>
                  </a:spcBef>
                  <a:buFont typeface="Arial" pitchFamily="34" charset="0"/>
                  <a:buChar char="▪"/>
                  <a:defRPr sz="1600">
                    <a:solidFill>
                      <a:schemeClr val="bg1">
                        <a:lumMod val="50000"/>
                      </a:schemeClr>
                    </a:solidFill>
                  </a:defRPr>
                </a:lvl5pPr>
                <a:lvl6pPr marL="25146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6pPr>
                <a:lvl7pPr marL="29718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7pPr>
                <a:lvl8pPr marL="34290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8pPr>
                <a:lvl9pPr marL="38862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uperspace Bold" panose="02000000000000000000" pitchFamily="2" charset="0"/>
                    <a:ea typeface="+mn-ea"/>
                    <a:cs typeface="Superspace Bold" panose="02000000000000000000" pitchFamily="2" charset="0"/>
                  </a:rPr>
                  <a:t>Measure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uperspace Bold" panose="02000000000000000000" pitchFamily="2" charset="0"/>
                  <a:ea typeface="+mn-ea"/>
                  <a:cs typeface="Superspace Bold" panose="02000000000000000000" pitchFamily="2" charset="0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306002" y="4107051"/>
                <a:ext cx="1828800" cy="325812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indent="0">
                  <a:spcBef>
                    <a:spcPct val="20000"/>
                  </a:spcBef>
                  <a:buFont typeface="Arial" pitchFamily="34" charset="0"/>
                  <a:buNone/>
                  <a:defRPr sz="16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228600" indent="-171450">
                  <a:spcBef>
                    <a:spcPct val="20000"/>
                  </a:spcBef>
                  <a:buFont typeface="Arial" pitchFamily="34" charset="0"/>
                  <a:buChar char="•"/>
                  <a:defRPr sz="1600">
                    <a:solidFill>
                      <a:schemeClr val="bg1">
                        <a:lumMod val="50000"/>
                      </a:schemeClr>
                    </a:solidFill>
                  </a:defRPr>
                </a:lvl2pPr>
                <a:lvl3pPr marL="400050" indent="-171450">
                  <a:spcBef>
                    <a:spcPct val="20000"/>
                  </a:spcBef>
                  <a:buFont typeface="Arial" pitchFamily="34" charset="0"/>
                  <a:buChar char="‒"/>
                  <a:defRPr sz="1600">
                    <a:solidFill>
                      <a:schemeClr val="bg1">
                        <a:lumMod val="50000"/>
                      </a:schemeClr>
                    </a:solidFill>
                  </a:defRPr>
                </a:lvl3pPr>
                <a:lvl4pPr marL="685800" indent="-228600">
                  <a:spcBef>
                    <a:spcPct val="20000"/>
                  </a:spcBef>
                  <a:buFont typeface="Courier New" pitchFamily="49" charset="0"/>
                  <a:buChar char="o"/>
                  <a:defRPr sz="1600">
                    <a:solidFill>
                      <a:schemeClr val="bg1">
                        <a:lumMod val="50000"/>
                      </a:schemeClr>
                    </a:solidFill>
                  </a:defRPr>
                </a:lvl4pPr>
                <a:lvl5pPr marL="857250" lvl="4" indent="-171450">
                  <a:spcBef>
                    <a:spcPct val="20000"/>
                  </a:spcBef>
                  <a:buFont typeface="Arial" pitchFamily="34" charset="0"/>
                  <a:buChar char="▪"/>
                  <a:defRPr sz="1600">
                    <a:solidFill>
                      <a:schemeClr val="bg1">
                        <a:lumMod val="50000"/>
                      </a:schemeClr>
                    </a:solidFill>
                  </a:defRPr>
                </a:lvl5pPr>
                <a:lvl6pPr marL="25146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6pPr>
                <a:lvl7pPr marL="29718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7pPr>
                <a:lvl8pPr marL="34290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8pPr>
                <a:lvl9pPr marL="3886200" indent="-228600">
                  <a:spcBef>
                    <a:spcPct val="20000"/>
                  </a:spcBef>
                  <a:buFont typeface="Arial" pitchFamily="34" charset="0"/>
                  <a:buChar char="•"/>
                  <a:defRPr sz="2000"/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uperspace Bold" panose="02000000000000000000" pitchFamily="2" charset="0"/>
                    <a:ea typeface="+mn-ea"/>
                    <a:cs typeface="Superspace Bold" panose="02000000000000000000" pitchFamily="2" charset="0"/>
                  </a:rPr>
                  <a:t>Learn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uperspace Bold" panose="02000000000000000000" pitchFamily="2" charset="0"/>
                  <a:ea typeface="+mn-ea"/>
                  <a:cs typeface="Superspace Bold" panose="02000000000000000000" pitchFamily="2" charset="0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4603331" y="2889249"/>
                <a:ext cx="1719681" cy="4683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eaLnBrk="0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Superspace Bold" panose="02000000000000000000" pitchFamily="2" charset="0"/>
                    <a:ea typeface="+mn-ea"/>
                    <a:cs typeface="Superspace Bold" panose="02000000000000000000" pitchFamily="2" charset="0"/>
                  </a:rPr>
                  <a:t>Feedback</a:t>
                </a:r>
              </a:p>
            </p:txBody>
          </p:sp>
        </p:grpSp>
        <p:sp>
          <p:nvSpPr>
            <p:cNvPr id="12" name="Rectangle 11"/>
            <p:cNvSpPr/>
            <p:nvPr/>
          </p:nvSpPr>
          <p:spPr>
            <a:xfrm>
              <a:off x="6911463" y="4919586"/>
              <a:ext cx="2581600" cy="707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0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uperspace Bold" panose="02000000000000000000" pitchFamily="2" charset="0"/>
                  <a:ea typeface="+mn-ea"/>
                  <a:cs typeface="Superspace Bold" panose="02000000000000000000" pitchFamily="2" charset="0"/>
                </a:rPr>
                <a:t>Loops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 rot="2659913">
              <a:off x="9654343" y="2300010"/>
              <a:ext cx="2745411" cy="492444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indent="0">
                <a:spcBef>
                  <a:spcPct val="20000"/>
                </a:spcBef>
                <a:buFont typeface="Arial" pitchFamily="34" charset="0"/>
                <a:buNone/>
                <a:defRPr sz="16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228600" indent="-171450">
                <a:spcBef>
                  <a:spcPct val="20000"/>
                </a:spcBef>
                <a:buFont typeface="Arial" pitchFamily="34" charset="0"/>
                <a:buChar char="•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2pPr>
              <a:lvl3pPr marL="400050" indent="-171450">
                <a:spcBef>
                  <a:spcPct val="20000"/>
                </a:spcBef>
                <a:buFont typeface="Arial" pitchFamily="34" charset="0"/>
                <a:buChar char="‒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3pPr>
              <a:lvl4pPr marL="685800" indent="-228600">
                <a:spcBef>
                  <a:spcPct val="20000"/>
                </a:spcBef>
                <a:buFont typeface="Courier New" pitchFamily="49" charset="0"/>
                <a:buChar char="o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4pPr>
              <a:lvl5pPr marL="857250" lvl="4" indent="-171450">
                <a:spcBef>
                  <a:spcPct val="20000"/>
                </a:spcBef>
                <a:buFont typeface="Arial" pitchFamily="34" charset="0"/>
                <a:buChar char="▪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uperspace Bold" panose="02000000000000000000" pitchFamily="2" charset="0"/>
                  <a:ea typeface="+mn-ea"/>
                  <a:cs typeface="Superspace Bold" panose="02000000000000000000" pitchFamily="2" charset="0"/>
                </a:rPr>
                <a:t>Experiment</a:t>
              </a: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perspace Bold" panose="02000000000000000000" pitchFamily="2" charset="0"/>
                <a:ea typeface="+mn-ea"/>
                <a:cs typeface="Superspace Bold" panose="02000000000000000000" pitchFamily="2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 rot="20062088">
              <a:off x="8276140" y="8160921"/>
              <a:ext cx="2745411" cy="492444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indent="0">
                <a:spcBef>
                  <a:spcPct val="20000"/>
                </a:spcBef>
                <a:buFont typeface="Arial" pitchFamily="34" charset="0"/>
                <a:buNone/>
                <a:defRPr sz="16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228600" indent="-171450">
                <a:spcBef>
                  <a:spcPct val="20000"/>
                </a:spcBef>
                <a:buFont typeface="Arial" pitchFamily="34" charset="0"/>
                <a:buChar char="•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2pPr>
              <a:lvl3pPr marL="400050" indent="-171450">
                <a:spcBef>
                  <a:spcPct val="20000"/>
                </a:spcBef>
                <a:buFont typeface="Arial" pitchFamily="34" charset="0"/>
                <a:buChar char="‒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3pPr>
              <a:lvl4pPr marL="685800" indent="-228600">
                <a:spcBef>
                  <a:spcPct val="20000"/>
                </a:spcBef>
                <a:buFont typeface="Courier New" pitchFamily="49" charset="0"/>
                <a:buChar char="o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4pPr>
              <a:lvl5pPr marL="857250" lvl="4" indent="-171450">
                <a:spcBef>
                  <a:spcPct val="20000"/>
                </a:spcBef>
                <a:buFont typeface="Arial" pitchFamily="34" charset="0"/>
                <a:buChar char="▪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uperspace Bold" panose="02000000000000000000" pitchFamily="2" charset="0"/>
                  <a:ea typeface="+mn-ea"/>
                  <a:cs typeface="Superspace Bold" panose="02000000000000000000" pitchFamily="2" charset="0"/>
                </a:rPr>
                <a:t>Analyze</a:t>
              </a: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perspace Bold" panose="02000000000000000000" pitchFamily="2" charset="0"/>
                <a:ea typeface="+mn-ea"/>
                <a:cs typeface="Superspace Bold" panose="02000000000000000000" pitchFamily="2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 rot="16200000">
              <a:off x="3080140" y="4573286"/>
              <a:ext cx="2745411" cy="492443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indent="0">
                <a:spcBef>
                  <a:spcPct val="20000"/>
                </a:spcBef>
                <a:buFont typeface="Arial" pitchFamily="34" charset="0"/>
                <a:buNone/>
                <a:defRPr sz="16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228600" indent="-171450">
                <a:spcBef>
                  <a:spcPct val="20000"/>
                </a:spcBef>
                <a:buFont typeface="Arial" pitchFamily="34" charset="0"/>
                <a:buChar char="•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2pPr>
              <a:lvl3pPr marL="400050" indent="-171450">
                <a:spcBef>
                  <a:spcPct val="20000"/>
                </a:spcBef>
                <a:buFont typeface="Arial" pitchFamily="34" charset="0"/>
                <a:buChar char="‒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3pPr>
              <a:lvl4pPr marL="685800" indent="-228600">
                <a:spcBef>
                  <a:spcPct val="20000"/>
                </a:spcBef>
                <a:buFont typeface="Courier New" pitchFamily="49" charset="0"/>
                <a:buChar char="o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4pPr>
              <a:lvl5pPr marL="857250" lvl="4" indent="-171450">
                <a:spcBef>
                  <a:spcPct val="20000"/>
                </a:spcBef>
                <a:buFont typeface="Arial" pitchFamily="34" charset="0"/>
                <a:buChar char="▪"/>
                <a:defRPr sz="1600">
                  <a:solidFill>
                    <a:schemeClr val="bg1">
                      <a:lumMod val="50000"/>
                    </a:schemeClr>
                  </a:solidFill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lang="en-US" sz="3200" kern="1200" dirty="0" smtClean="0">
                  <a:solidFill>
                    <a:prstClr val="white"/>
                  </a:solidFill>
                  <a:latin typeface="Superspace Bold" panose="02000000000000000000" pitchFamily="2" charset="0"/>
                  <a:ea typeface="+mn-ea"/>
                  <a:cs typeface="Superspace Bold" panose="02000000000000000000" pitchFamily="2" charset="0"/>
                </a:rPr>
                <a:t>Pivot/</a:t>
              </a:r>
              <a:r>
                <a:rPr lang="en-US" sz="3200" kern="1200" dirty="0" err="1" smtClean="0">
                  <a:solidFill>
                    <a:prstClr val="white"/>
                  </a:solidFill>
                  <a:latin typeface="Superspace Bold" panose="02000000000000000000" pitchFamily="2" charset="0"/>
                  <a:ea typeface="+mn-ea"/>
                  <a:cs typeface="Superspace Bold" panose="02000000000000000000" pitchFamily="2" charset="0"/>
                </a:rPr>
                <a:t>Perservere</a:t>
              </a: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uperspace Bold" panose="02000000000000000000" pitchFamily="2" charset="0"/>
                <a:ea typeface="+mn-ea"/>
                <a:cs typeface="Superspace Bold" panose="02000000000000000000" pitchFamily="2" charset="0"/>
              </a:endParaRPr>
            </a:p>
          </p:txBody>
        </p:sp>
      </p:grpSp>
      <p:sp>
        <p:nvSpPr>
          <p:cNvPr id="17" name="Shape 126"/>
          <p:cNvSpPr/>
          <p:nvPr/>
        </p:nvSpPr>
        <p:spPr>
          <a:xfrm>
            <a:off x="758073" y="2354115"/>
            <a:ext cx="7012485" cy="5061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Data-Driven </a:t>
            </a:r>
          </a:p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Strategy</a:t>
            </a:r>
          </a:p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Concepts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18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30661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703557868"/>
              </p:ext>
            </p:extLst>
          </p:nvPr>
        </p:nvGraphicFramePr>
        <p:xfrm>
          <a:off x="491319" y="2961564"/>
          <a:ext cx="16513791" cy="50769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126"/>
          <p:cNvSpPr/>
          <p:nvPr/>
        </p:nvSpPr>
        <p:spPr>
          <a:xfrm>
            <a:off x="5158854" y="8060862"/>
            <a:ext cx="12005740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Time Series Database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2" name="Shape 126"/>
          <p:cNvSpPr/>
          <p:nvPr/>
        </p:nvSpPr>
        <p:spPr>
          <a:xfrm>
            <a:off x="849567" y="608780"/>
            <a:ext cx="15797293" cy="2352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algn="r"/>
            <a:r>
              <a:rPr lang="en-US" sz="7200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Information that represent “data point” for each point in time</a:t>
            </a:r>
            <a:endParaRPr sz="7200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1" name="Shape 126"/>
          <p:cNvSpPr/>
          <p:nvPr/>
        </p:nvSpPr>
        <p:spPr>
          <a:xfrm>
            <a:off x="8502554" y="8060862"/>
            <a:ext cx="8662039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What you need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8315364" y="1097276"/>
            <a:ext cx="2797722" cy="7159525"/>
            <a:chOff x="7613376" y="1084213"/>
            <a:chExt cx="2797722" cy="7159525"/>
          </a:xfrm>
        </p:grpSpPr>
        <p:sp>
          <p:nvSpPr>
            <p:cNvPr id="3" name="Rounded Rectangle 2"/>
            <p:cNvSpPr/>
            <p:nvPr/>
          </p:nvSpPr>
          <p:spPr>
            <a:xfrm>
              <a:off x="7613376" y="1084213"/>
              <a:ext cx="2797722" cy="7159525"/>
            </a:xfrm>
            <a:prstGeom prst="roundRect">
              <a:avLst/>
            </a:prstGeom>
            <a:noFill/>
            <a:ln w="952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sp>
          <p:nvSpPr>
            <p:cNvPr id="2" name="Can 1"/>
            <p:cNvSpPr/>
            <p:nvPr/>
          </p:nvSpPr>
          <p:spPr>
            <a:xfrm>
              <a:off x="8177351" y="1580607"/>
              <a:ext cx="1685108" cy="1358538"/>
            </a:xfrm>
            <a:prstGeom prst="can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177351" y="2129406"/>
              <a:ext cx="16851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0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uperspace Bold" panose="02000000000000000000" pitchFamily="2" charset="0"/>
                  <a:ea typeface="+mn-ea"/>
                  <a:cs typeface="Superspace Bold" panose="02000000000000000000" pitchFamily="2" charset="0"/>
                </a:rPr>
                <a:t>InfluxDB</a:t>
              </a:r>
            </a:p>
          </p:txBody>
        </p:sp>
        <p:sp>
          <p:nvSpPr>
            <p:cNvPr id="13" name="Can 12"/>
            <p:cNvSpPr/>
            <p:nvPr/>
          </p:nvSpPr>
          <p:spPr>
            <a:xfrm>
              <a:off x="8177351" y="3196047"/>
              <a:ext cx="1685108" cy="1358538"/>
            </a:xfrm>
            <a:prstGeom prst="can">
              <a:avLst/>
            </a:prstGeom>
            <a:blipFill rotWithShape="1">
              <a:blip r:embed="rId3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098973" y="3739684"/>
              <a:ext cx="18418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0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uperspace Bold" panose="02000000000000000000" pitchFamily="2" charset="0"/>
                  <a:ea typeface="+mn-ea"/>
                  <a:cs typeface="Superspace Bold" panose="02000000000000000000" pitchFamily="2" charset="0"/>
                </a:rPr>
                <a:t>ElasticSearch</a:t>
              </a:r>
            </a:p>
          </p:txBody>
        </p:sp>
        <p:sp>
          <p:nvSpPr>
            <p:cNvPr id="15" name="Can 14"/>
            <p:cNvSpPr/>
            <p:nvPr/>
          </p:nvSpPr>
          <p:spPr>
            <a:xfrm>
              <a:off x="8177351" y="4824873"/>
              <a:ext cx="1685108" cy="1358538"/>
            </a:xfrm>
            <a:prstGeom prst="can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77351" y="5373672"/>
              <a:ext cx="16851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0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uperspace Bold" panose="02000000000000000000" pitchFamily="2" charset="0"/>
                  <a:ea typeface="+mn-ea"/>
                  <a:cs typeface="Superspace Bold" panose="02000000000000000000" pitchFamily="2" charset="0"/>
                </a:rPr>
                <a:t>Prometheus</a:t>
              </a:r>
            </a:p>
          </p:txBody>
        </p:sp>
        <p:sp>
          <p:nvSpPr>
            <p:cNvPr id="17" name="Can 16"/>
            <p:cNvSpPr/>
            <p:nvPr/>
          </p:nvSpPr>
          <p:spPr>
            <a:xfrm>
              <a:off x="8177351" y="6426551"/>
              <a:ext cx="1685108" cy="1358538"/>
            </a:xfrm>
            <a:prstGeom prst="can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77351" y="6975350"/>
              <a:ext cx="16851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0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uperspace Bold" panose="02000000000000000000" pitchFamily="2" charset="0"/>
                  <a:ea typeface="+mn-ea"/>
                  <a:cs typeface="Superspace Bold" panose="02000000000000000000" pitchFamily="2" charset="0"/>
                </a:rPr>
                <a:t>Graphite</a:t>
              </a:r>
            </a:p>
          </p:txBody>
        </p:sp>
      </p:grpSp>
      <p:pic>
        <p:nvPicPr>
          <p:cNvPr id="4098" name="Picture 2" descr="http://grafana.org/assets/img/features/dashboard_ex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41" y="2434710"/>
            <a:ext cx="6753034" cy="337651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/>
        </p:nvSpPr>
        <p:spPr>
          <a:xfrm>
            <a:off x="2780350" y="1531917"/>
            <a:ext cx="16851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uperspace Bold" panose="02000000000000000000" pitchFamily="2" charset="0"/>
                <a:ea typeface="+mn-ea"/>
                <a:cs typeface="Superspace Bold" panose="02000000000000000000" pitchFamily="2" charset="0"/>
              </a:rPr>
              <a:t>Grafana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85670" y="375977"/>
            <a:ext cx="48724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uperspace Bold" panose="02000000000000000000" pitchFamily="2" charset="0"/>
                <a:ea typeface="+mn-ea"/>
                <a:cs typeface="Superspace Bold" panose="02000000000000000000" pitchFamily="2" charset="0"/>
              </a:rPr>
              <a:t>Time</a:t>
            </a:r>
            <a:r>
              <a:rPr kumimoji="0" lang="en-US" b="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uperspace Bold" panose="02000000000000000000" pitchFamily="2" charset="0"/>
                <a:ea typeface="+mn-ea"/>
                <a:cs typeface="Superspace Bold" panose="02000000000000000000" pitchFamily="2" charset="0"/>
              </a:rPr>
              <a:t> Series Database</a:t>
            </a: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uperspace Bold" panose="02000000000000000000" pitchFamily="2" charset="0"/>
              <a:ea typeface="+mn-ea"/>
              <a:cs typeface="Superspace Bold" panose="02000000000000000000" pitchFamily="2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2138010" y="2558550"/>
            <a:ext cx="48724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uperspace Bold" panose="02000000000000000000" pitchFamily="2" charset="0"/>
                <a:ea typeface="+mn-ea"/>
                <a:cs typeface="Superspace Bold" panose="02000000000000000000" pitchFamily="2" charset="0"/>
              </a:rPr>
              <a:t>Metrics/Data Point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3329" y="3336236"/>
            <a:ext cx="4502015" cy="3062181"/>
          </a:xfrm>
          <a:prstGeom prst="rect">
            <a:avLst/>
          </a:prstGeom>
        </p:spPr>
      </p:pic>
      <p:cxnSp>
        <p:nvCxnSpPr>
          <p:cNvPr id="23" name="Curved Connector 22"/>
          <p:cNvCxnSpPr>
            <a:stCxn id="9" idx="1"/>
            <a:endCxn id="3" idx="3"/>
          </p:cNvCxnSpPr>
          <p:nvPr/>
        </p:nvCxnSpPr>
        <p:spPr>
          <a:xfrm rot="10800000">
            <a:off x="11113087" y="4677039"/>
            <a:ext cx="1230243" cy="190288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urved Connector 24"/>
          <p:cNvCxnSpPr>
            <a:stCxn id="3" idx="1"/>
          </p:cNvCxnSpPr>
          <p:nvPr/>
        </p:nvCxnSpPr>
        <p:spPr>
          <a:xfrm rot="10800000">
            <a:off x="6915648" y="3752747"/>
            <a:ext cx="1399717" cy="924292"/>
          </a:xfrm>
          <a:prstGeom prst="curvedConnector3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4931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1" name="Shape 126"/>
          <p:cNvSpPr/>
          <p:nvPr/>
        </p:nvSpPr>
        <p:spPr>
          <a:xfrm>
            <a:off x="8502554" y="8060862"/>
            <a:ext cx="8662039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What you need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24" name="Shape 127"/>
          <p:cNvSpPr/>
          <p:nvPr/>
        </p:nvSpPr>
        <p:spPr>
          <a:xfrm>
            <a:off x="6597917" y="884858"/>
            <a:ext cx="3809273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err="1" smtClean="0">
                <a:latin typeface="Superspace Bold" panose="02000000000000000000" pitchFamily="2" charset="0"/>
                <a:cs typeface="Superspace Bold" panose="02000000000000000000" pitchFamily="2" charset="0"/>
              </a:rPr>
              <a:t>NuGet</a:t>
            </a:r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 Packages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26" name="Shape 126"/>
          <p:cNvSpPr/>
          <p:nvPr/>
        </p:nvSpPr>
        <p:spPr>
          <a:xfrm>
            <a:off x="962158" y="2590197"/>
            <a:ext cx="6794493" cy="1244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algn="r"/>
            <a:r>
              <a:rPr lang="en-US" sz="7200" dirty="0" err="1" smtClean="0">
                <a:latin typeface="Superspace Bold" panose="02000000000000000000" pitchFamily="2" charset="0"/>
                <a:cs typeface="Superspace Bold" panose="02000000000000000000" pitchFamily="2" charset="0"/>
              </a:rPr>
              <a:t>Metrics.Net</a:t>
            </a:r>
            <a:endParaRPr sz="7200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27" name="Shape 127"/>
          <p:cNvSpPr/>
          <p:nvPr/>
        </p:nvSpPr>
        <p:spPr>
          <a:xfrm>
            <a:off x="7907905" y="2738642"/>
            <a:ext cx="7816780" cy="1244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https://</a:t>
            </a:r>
            <a:r>
              <a:rPr lang="en-US" sz="36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github.com/Recognos/Metrics.NET</a:t>
            </a:r>
          </a:p>
          <a:p>
            <a:r>
              <a:rPr lang="en-US" sz="3600" dirty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Install-Package Metrics.NET</a:t>
            </a:r>
            <a:endParaRPr sz="3600" dirty="0">
              <a:solidFill>
                <a:schemeClr val="bg1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28" name="Shape 126"/>
          <p:cNvSpPr/>
          <p:nvPr/>
        </p:nvSpPr>
        <p:spPr>
          <a:xfrm>
            <a:off x="1113412" y="4172967"/>
            <a:ext cx="6794493" cy="1244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algn="r"/>
            <a:r>
              <a:rPr lang="en-US" sz="7200" dirty="0" err="1" smtClean="0">
                <a:latin typeface="Superspace Bold" panose="02000000000000000000" pitchFamily="2" charset="0"/>
                <a:cs typeface="Superspace Bold" panose="02000000000000000000" pitchFamily="2" charset="0"/>
              </a:rPr>
              <a:t>InfluxData.Net</a:t>
            </a:r>
            <a:endParaRPr sz="7200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29" name="Shape 127"/>
          <p:cNvSpPr/>
          <p:nvPr/>
        </p:nvSpPr>
        <p:spPr>
          <a:xfrm>
            <a:off x="7907905" y="4321412"/>
            <a:ext cx="8025171" cy="1244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https://github.com/pootzko/InfluxData.Net</a:t>
            </a:r>
          </a:p>
          <a:p>
            <a:r>
              <a:rPr lang="en-US" sz="3600" dirty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Install-Package </a:t>
            </a:r>
            <a:r>
              <a:rPr lang="en-US" sz="3600" dirty="0" err="1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InfluxData.Net</a:t>
            </a:r>
            <a:endParaRPr lang="en-US" sz="3600" dirty="0">
              <a:solidFill>
                <a:schemeClr val="bg1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50015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1" name="Shape 126"/>
          <p:cNvSpPr/>
          <p:nvPr/>
        </p:nvSpPr>
        <p:spPr>
          <a:xfrm>
            <a:off x="8106770" y="8060862"/>
            <a:ext cx="9057823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How to Measure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73" y="1720213"/>
            <a:ext cx="8294683" cy="5789944"/>
          </a:xfrm>
          <a:prstGeom prst="rect">
            <a:avLst/>
          </a:prstGeom>
        </p:spPr>
      </p:pic>
      <p:sp>
        <p:nvSpPr>
          <p:cNvPr id="13" name="Shape 127"/>
          <p:cNvSpPr/>
          <p:nvPr/>
        </p:nvSpPr>
        <p:spPr>
          <a:xfrm>
            <a:off x="9139067" y="2151956"/>
            <a:ext cx="8023567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Visualization (Not for production)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4" name="Shape 127"/>
          <p:cNvSpPr/>
          <p:nvPr/>
        </p:nvSpPr>
        <p:spPr>
          <a:xfrm>
            <a:off x="9139067" y="4067841"/>
            <a:ext cx="5202282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Data Point Reporter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5" name="Shape 127"/>
          <p:cNvSpPr/>
          <p:nvPr/>
        </p:nvSpPr>
        <p:spPr>
          <a:xfrm>
            <a:off x="9139067" y="5587002"/>
            <a:ext cx="4706955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Reporting Interval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6" name="Shape 127"/>
          <p:cNvSpPr/>
          <p:nvPr/>
        </p:nvSpPr>
        <p:spPr>
          <a:xfrm>
            <a:off x="9139066" y="6687793"/>
            <a:ext cx="6311560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Measurement(s) to report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2262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1" name="Shape 126"/>
          <p:cNvSpPr/>
          <p:nvPr/>
        </p:nvSpPr>
        <p:spPr>
          <a:xfrm>
            <a:off x="8046720" y="8060862"/>
            <a:ext cx="9117874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How to Measure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pic>
        <p:nvPicPr>
          <p:cNvPr id="7170" name="Picture 2" descr="http://blog.thedigitalgroup.com/chetanv/wp-content/uploads/sites/23/2015/06/image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290" y="1311949"/>
            <a:ext cx="13663386" cy="597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hape 127"/>
          <p:cNvSpPr/>
          <p:nvPr/>
        </p:nvSpPr>
        <p:spPr>
          <a:xfrm>
            <a:off x="1731290" y="5125605"/>
            <a:ext cx="2292832" cy="567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2800" dirty="0" smtClean="0">
                <a:solidFill>
                  <a:srgbClr val="FF0000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Metric Setup !!!</a:t>
            </a:r>
            <a:endParaRPr sz="2800" dirty="0">
              <a:solidFill>
                <a:srgbClr val="FF0000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7966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1" name="Shape 126"/>
          <p:cNvSpPr/>
          <p:nvPr/>
        </p:nvSpPr>
        <p:spPr>
          <a:xfrm>
            <a:off x="8106770" y="8060862"/>
            <a:ext cx="9057823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How to Measure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37" y="1645713"/>
            <a:ext cx="15732406" cy="1502435"/>
          </a:xfrm>
          <a:prstGeom prst="rect">
            <a:avLst/>
          </a:prstGeom>
        </p:spPr>
      </p:pic>
      <p:sp>
        <p:nvSpPr>
          <p:cNvPr id="17" name="Shape 127"/>
          <p:cNvSpPr/>
          <p:nvPr/>
        </p:nvSpPr>
        <p:spPr>
          <a:xfrm>
            <a:off x="4748811" y="2065135"/>
            <a:ext cx="1340649" cy="444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2000" dirty="0" smtClean="0">
                <a:solidFill>
                  <a:srgbClr val="FF0000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Metric Type</a:t>
            </a:r>
            <a:endParaRPr sz="2000" dirty="0">
              <a:solidFill>
                <a:srgbClr val="FF0000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8" name="Shape 127"/>
          <p:cNvSpPr/>
          <p:nvPr/>
        </p:nvSpPr>
        <p:spPr>
          <a:xfrm>
            <a:off x="6599383" y="2065135"/>
            <a:ext cx="1658043" cy="444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2000" dirty="0" smtClean="0">
                <a:solidFill>
                  <a:srgbClr val="FF0000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Metric Variable</a:t>
            </a:r>
            <a:endParaRPr sz="2000" dirty="0">
              <a:solidFill>
                <a:srgbClr val="FF0000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9" name="Shape 127"/>
          <p:cNvSpPr/>
          <p:nvPr/>
        </p:nvSpPr>
        <p:spPr>
          <a:xfrm>
            <a:off x="11441349" y="2065135"/>
            <a:ext cx="1411181" cy="444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2000" dirty="0" smtClean="0">
                <a:solidFill>
                  <a:srgbClr val="FF0000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Metric Name</a:t>
            </a:r>
            <a:endParaRPr sz="2000" dirty="0">
              <a:solidFill>
                <a:srgbClr val="FF0000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20" name="Shape 127"/>
          <p:cNvSpPr/>
          <p:nvPr/>
        </p:nvSpPr>
        <p:spPr>
          <a:xfrm>
            <a:off x="13792773" y="2065135"/>
            <a:ext cx="1993070" cy="444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2000" dirty="0" smtClean="0">
                <a:solidFill>
                  <a:srgbClr val="FF0000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Measurement Unit</a:t>
            </a:r>
            <a:endParaRPr sz="2000" dirty="0">
              <a:solidFill>
                <a:srgbClr val="FF0000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74" y="3794094"/>
            <a:ext cx="5194369" cy="4032094"/>
          </a:xfrm>
          <a:prstGeom prst="rect">
            <a:avLst/>
          </a:prstGeom>
        </p:spPr>
      </p:pic>
      <p:sp>
        <p:nvSpPr>
          <p:cNvPr id="21" name="Shape 126"/>
          <p:cNvSpPr/>
          <p:nvPr/>
        </p:nvSpPr>
        <p:spPr>
          <a:xfrm>
            <a:off x="1385047" y="3583158"/>
            <a:ext cx="2322480" cy="752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algn="r"/>
            <a:r>
              <a:rPr lang="en-US" sz="4000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COUNTER</a:t>
            </a:r>
            <a:endParaRPr sz="4000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22" name="Shape 127"/>
          <p:cNvSpPr/>
          <p:nvPr/>
        </p:nvSpPr>
        <p:spPr>
          <a:xfrm>
            <a:off x="3858781" y="3608495"/>
            <a:ext cx="5173428" cy="998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64-bit integer values that can be </a:t>
            </a:r>
            <a:endParaRPr lang="en-US" sz="2800" dirty="0" smtClean="0">
              <a:solidFill>
                <a:schemeClr val="bg1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  <a:p>
            <a:r>
              <a:rPr lang="en-US" sz="28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incremented </a:t>
            </a:r>
            <a:r>
              <a:rPr lang="en-US" sz="2800" dirty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and </a:t>
            </a:r>
            <a:r>
              <a:rPr lang="en-US" sz="28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decremented</a:t>
            </a:r>
            <a:endParaRPr sz="2800" dirty="0">
              <a:solidFill>
                <a:schemeClr val="bg1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23" name="Shape 126"/>
          <p:cNvSpPr/>
          <p:nvPr/>
        </p:nvSpPr>
        <p:spPr>
          <a:xfrm>
            <a:off x="1854926" y="4619541"/>
            <a:ext cx="1852601" cy="752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algn="r"/>
            <a:r>
              <a:rPr lang="en-US" sz="4000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METER</a:t>
            </a:r>
            <a:endParaRPr sz="4000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24" name="Shape 126"/>
          <p:cNvSpPr/>
          <p:nvPr/>
        </p:nvSpPr>
        <p:spPr>
          <a:xfrm>
            <a:off x="1048871" y="5655924"/>
            <a:ext cx="2658655" cy="752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algn="r"/>
            <a:r>
              <a:rPr lang="en-US" sz="4000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HISTOGRAM</a:t>
            </a:r>
            <a:endParaRPr sz="4000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25" name="Shape 126"/>
          <p:cNvSpPr/>
          <p:nvPr/>
        </p:nvSpPr>
        <p:spPr>
          <a:xfrm>
            <a:off x="1385047" y="6696300"/>
            <a:ext cx="2322479" cy="752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algn="r"/>
            <a:r>
              <a:rPr lang="en-US" sz="4000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GUAGE</a:t>
            </a:r>
            <a:endParaRPr sz="4000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26" name="Shape 127"/>
          <p:cNvSpPr/>
          <p:nvPr/>
        </p:nvSpPr>
        <p:spPr>
          <a:xfrm>
            <a:off x="3858780" y="4645708"/>
            <a:ext cx="6691472" cy="998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measures the rate at which an event </a:t>
            </a:r>
            <a:r>
              <a:rPr lang="en-US" sz="28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occurs.</a:t>
            </a:r>
          </a:p>
          <a:p>
            <a:r>
              <a:rPr lang="en-US" sz="28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(Counter, Mean, 1/5/15 minute rates)</a:t>
            </a:r>
            <a:endParaRPr sz="2800" dirty="0">
              <a:solidFill>
                <a:schemeClr val="bg1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27" name="Shape 127"/>
          <p:cNvSpPr/>
          <p:nvPr/>
        </p:nvSpPr>
        <p:spPr>
          <a:xfrm>
            <a:off x="3858780" y="5677756"/>
            <a:ext cx="7303820" cy="998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measures the distribution of values </a:t>
            </a:r>
            <a:r>
              <a:rPr lang="en-US" sz="28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and calculate</a:t>
            </a:r>
          </a:p>
          <a:p>
            <a:r>
              <a:rPr lang="en-US" sz="28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Stats(Mean, </a:t>
            </a:r>
            <a:r>
              <a:rPr lang="en-US" sz="2800" dirty="0" err="1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Std.Dev</a:t>
            </a:r>
            <a:r>
              <a:rPr lang="en-US" sz="28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, Median, Percentiles)</a:t>
            </a:r>
            <a:endParaRPr sz="2800" dirty="0">
              <a:solidFill>
                <a:schemeClr val="bg1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28" name="Shape 127"/>
          <p:cNvSpPr/>
          <p:nvPr/>
        </p:nvSpPr>
        <p:spPr>
          <a:xfrm>
            <a:off x="3847332" y="6709804"/>
            <a:ext cx="5234342" cy="567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represents an instantaneous </a:t>
            </a:r>
            <a:r>
              <a:rPr lang="en-US" sz="28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value</a:t>
            </a:r>
            <a:endParaRPr sz="2800" dirty="0">
              <a:solidFill>
                <a:schemeClr val="bg1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29" name="Shape 126"/>
          <p:cNvSpPr/>
          <p:nvPr/>
        </p:nvSpPr>
        <p:spPr>
          <a:xfrm>
            <a:off x="1385047" y="7602573"/>
            <a:ext cx="2322479" cy="752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algn="r"/>
            <a:r>
              <a:rPr lang="en-US" sz="4000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TIMER</a:t>
            </a:r>
            <a:endParaRPr sz="4000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30" name="Shape 127"/>
          <p:cNvSpPr/>
          <p:nvPr/>
        </p:nvSpPr>
        <p:spPr>
          <a:xfrm>
            <a:off x="3847332" y="7625180"/>
            <a:ext cx="7061766" cy="998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a histogram of the duration of a type of event </a:t>
            </a:r>
            <a:endParaRPr lang="en-US" sz="2800" dirty="0" smtClean="0">
              <a:solidFill>
                <a:schemeClr val="bg1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  <a:p>
            <a:r>
              <a:rPr lang="en-US" sz="28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and </a:t>
            </a:r>
            <a:r>
              <a:rPr lang="en-US" sz="2800" dirty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a meter of the rate of its </a:t>
            </a:r>
            <a:r>
              <a:rPr lang="en-US" sz="2800" dirty="0" smtClean="0">
                <a:solidFill>
                  <a:schemeClr val="bg1"/>
                </a:solidFill>
                <a:latin typeface="Superspace Bold" panose="02000000000000000000" pitchFamily="2" charset="0"/>
                <a:cs typeface="Superspace Bold" panose="02000000000000000000" pitchFamily="2" charset="0"/>
              </a:rPr>
              <a:t>occurrence</a:t>
            </a:r>
            <a:endParaRPr sz="2800" dirty="0">
              <a:solidFill>
                <a:schemeClr val="bg1"/>
              </a:solidFill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30289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1" name="Shape 126"/>
          <p:cNvSpPr/>
          <p:nvPr/>
        </p:nvSpPr>
        <p:spPr>
          <a:xfrm>
            <a:off x="8106770" y="8060862"/>
            <a:ext cx="9057823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How to Measure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207" y="1746652"/>
            <a:ext cx="6482566" cy="5687929"/>
          </a:xfrm>
          <a:prstGeom prst="rect">
            <a:avLst/>
          </a:prstGeom>
        </p:spPr>
      </p:pic>
      <p:sp>
        <p:nvSpPr>
          <p:cNvPr id="31" name="Shape 127"/>
          <p:cNvSpPr/>
          <p:nvPr/>
        </p:nvSpPr>
        <p:spPr>
          <a:xfrm>
            <a:off x="9622393" y="1979866"/>
            <a:ext cx="2542901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Counter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32" name="Shape 127"/>
          <p:cNvSpPr/>
          <p:nvPr/>
        </p:nvSpPr>
        <p:spPr>
          <a:xfrm>
            <a:off x="9622392" y="3307923"/>
            <a:ext cx="2037954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Meter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33" name="Shape 127"/>
          <p:cNvSpPr/>
          <p:nvPr/>
        </p:nvSpPr>
        <p:spPr>
          <a:xfrm>
            <a:off x="9622392" y="4635980"/>
            <a:ext cx="1993070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Timer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34" name="Shape 127"/>
          <p:cNvSpPr/>
          <p:nvPr/>
        </p:nvSpPr>
        <p:spPr>
          <a:xfrm>
            <a:off x="9622392" y="6490906"/>
            <a:ext cx="3001360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Histogram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98799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1" name="Shape 126"/>
          <p:cNvSpPr/>
          <p:nvPr/>
        </p:nvSpPr>
        <p:spPr>
          <a:xfrm>
            <a:off x="6915648" y="8060862"/>
            <a:ext cx="10248946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Where to measure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pic>
        <p:nvPicPr>
          <p:cNvPr id="7170" name="Picture 2" descr="http://blog.thedigitalgroup.com/chetanv/wp-content/uploads/sites/23/2015/06/image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290" y="1311949"/>
            <a:ext cx="13663386" cy="597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73511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1" name="Shape 126"/>
          <p:cNvSpPr/>
          <p:nvPr/>
        </p:nvSpPr>
        <p:spPr>
          <a:xfrm>
            <a:off x="6915648" y="8060862"/>
            <a:ext cx="10248946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Where to measure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pic>
        <p:nvPicPr>
          <p:cNvPr id="8194" name="Picture 2" descr="http://blog.thedigitalgroup.com/chetanv/wp-content/uploads/sites/23/2015/06/image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961" y="1245022"/>
            <a:ext cx="12544268" cy="6376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49563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1" name="Shape 126"/>
          <p:cNvSpPr/>
          <p:nvPr/>
        </p:nvSpPr>
        <p:spPr>
          <a:xfrm>
            <a:off x="6915648" y="8060862"/>
            <a:ext cx="10248946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Where to measure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pic>
        <p:nvPicPr>
          <p:cNvPr id="9220" name="Picture 4" descr="http://blog.thedigitalgroup.com/chetanv/wp-content/uploads/sites/23/2015/06/image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849" y="966200"/>
            <a:ext cx="11722695" cy="69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9381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1" name="Shape 126"/>
          <p:cNvSpPr/>
          <p:nvPr/>
        </p:nvSpPr>
        <p:spPr>
          <a:xfrm>
            <a:off x="6915648" y="8060862"/>
            <a:ext cx="10248946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Where to measure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pic>
        <p:nvPicPr>
          <p:cNvPr id="9220" name="Picture 4" descr="http://blog.thedigitalgroup.com/chetanv/wp-content/uploads/sites/23/2015/06/image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849" y="966200"/>
            <a:ext cx="11722695" cy="69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501230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1" name="Shape 126"/>
          <p:cNvSpPr/>
          <p:nvPr/>
        </p:nvSpPr>
        <p:spPr>
          <a:xfrm>
            <a:off x="6915648" y="8060862"/>
            <a:ext cx="10248946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Where to measure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pic>
        <p:nvPicPr>
          <p:cNvPr id="10242" name="Picture 2" descr="http://blog.thedigitalgroup.com/chetanv/wp-content/uploads/sites/23/2015/06/image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682" y="1802332"/>
            <a:ext cx="12588013" cy="5819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69327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1" name="Shape 126"/>
          <p:cNvSpPr/>
          <p:nvPr/>
        </p:nvSpPr>
        <p:spPr>
          <a:xfrm>
            <a:off x="8106770" y="8060862"/>
            <a:ext cx="9057823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How to Report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232" y="1794818"/>
            <a:ext cx="8327314" cy="5664073"/>
          </a:xfrm>
          <a:prstGeom prst="rect">
            <a:avLst/>
          </a:prstGeom>
        </p:spPr>
      </p:pic>
      <p:sp>
        <p:nvSpPr>
          <p:cNvPr id="13" name="Shape 127"/>
          <p:cNvSpPr/>
          <p:nvPr/>
        </p:nvSpPr>
        <p:spPr>
          <a:xfrm>
            <a:off x="9935902" y="2463191"/>
            <a:ext cx="5163810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Measurement Name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4" name="Shape 127"/>
          <p:cNvSpPr/>
          <p:nvPr/>
        </p:nvSpPr>
        <p:spPr>
          <a:xfrm>
            <a:off x="9935902" y="3595305"/>
            <a:ext cx="5134956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Tags and its values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5" name="Shape 127"/>
          <p:cNvSpPr/>
          <p:nvPr/>
        </p:nvSpPr>
        <p:spPr>
          <a:xfrm>
            <a:off x="9935902" y="5063363"/>
            <a:ext cx="5359376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Fields and its values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6" name="Shape 127"/>
          <p:cNvSpPr/>
          <p:nvPr/>
        </p:nvSpPr>
        <p:spPr>
          <a:xfrm>
            <a:off x="9935902" y="6196080"/>
            <a:ext cx="3650575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Point of time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9272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1" name="Shape 126"/>
          <p:cNvSpPr/>
          <p:nvPr/>
        </p:nvSpPr>
        <p:spPr>
          <a:xfrm>
            <a:off x="8106770" y="8060862"/>
            <a:ext cx="9057823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How to Report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232" y="1794818"/>
            <a:ext cx="8327314" cy="5664073"/>
          </a:xfrm>
          <a:prstGeom prst="rect">
            <a:avLst/>
          </a:prstGeom>
        </p:spPr>
      </p:pic>
      <p:sp>
        <p:nvSpPr>
          <p:cNvPr id="13" name="Shape 127"/>
          <p:cNvSpPr/>
          <p:nvPr/>
        </p:nvSpPr>
        <p:spPr>
          <a:xfrm>
            <a:off x="9935902" y="2463191"/>
            <a:ext cx="5163810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Measurement Name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4" name="Shape 127"/>
          <p:cNvSpPr/>
          <p:nvPr/>
        </p:nvSpPr>
        <p:spPr>
          <a:xfrm>
            <a:off x="9935902" y="3595305"/>
            <a:ext cx="5134956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Tags and its values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5" name="Shape 127"/>
          <p:cNvSpPr/>
          <p:nvPr/>
        </p:nvSpPr>
        <p:spPr>
          <a:xfrm>
            <a:off x="9935902" y="5063363"/>
            <a:ext cx="5359376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Fields and its values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6" name="Shape 127"/>
          <p:cNvSpPr/>
          <p:nvPr/>
        </p:nvSpPr>
        <p:spPr>
          <a:xfrm>
            <a:off x="9935902" y="6196080"/>
            <a:ext cx="3650575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Point of time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6389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1" name="Shape 126"/>
          <p:cNvSpPr/>
          <p:nvPr/>
        </p:nvSpPr>
        <p:spPr>
          <a:xfrm>
            <a:off x="8106770" y="8060862"/>
            <a:ext cx="9057823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How to Report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3" name="Shape 127"/>
          <p:cNvSpPr/>
          <p:nvPr/>
        </p:nvSpPr>
        <p:spPr>
          <a:xfrm>
            <a:off x="10980929" y="3790398"/>
            <a:ext cx="5232740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Connect to </a:t>
            </a:r>
            <a:r>
              <a:rPr lang="en-US" sz="4267" dirty="0" err="1" smtClean="0">
                <a:latin typeface="Superspace Bold" panose="02000000000000000000" pitchFamily="2" charset="0"/>
                <a:cs typeface="Superspace Bold" panose="02000000000000000000" pitchFamily="2" charset="0"/>
              </a:rPr>
              <a:t>InfluxDb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4" name="Shape 127"/>
          <p:cNvSpPr/>
          <p:nvPr/>
        </p:nvSpPr>
        <p:spPr>
          <a:xfrm>
            <a:off x="10980929" y="5208465"/>
            <a:ext cx="5017937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Collect Data points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5" name="Shape 127"/>
          <p:cNvSpPr/>
          <p:nvPr/>
        </p:nvSpPr>
        <p:spPr>
          <a:xfrm>
            <a:off x="10980929" y="6088210"/>
            <a:ext cx="4517800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Send to </a:t>
            </a:r>
            <a:r>
              <a:rPr lang="en-US" sz="4267" dirty="0" err="1" smtClean="0">
                <a:latin typeface="Superspace Bold" panose="02000000000000000000" pitchFamily="2" charset="0"/>
                <a:cs typeface="Superspace Bold" panose="02000000000000000000" pitchFamily="2" charset="0"/>
              </a:rPr>
              <a:t>InfluxDb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77" y="2163732"/>
            <a:ext cx="9779490" cy="4840228"/>
          </a:xfrm>
          <a:prstGeom prst="rect">
            <a:avLst/>
          </a:prstGeom>
        </p:spPr>
      </p:pic>
      <p:sp>
        <p:nvSpPr>
          <p:cNvPr id="17" name="Shape 127"/>
          <p:cNvSpPr/>
          <p:nvPr/>
        </p:nvSpPr>
        <p:spPr>
          <a:xfrm>
            <a:off x="10980929" y="2468499"/>
            <a:ext cx="4514594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Custom Reporter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1241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1" name="Shape 126"/>
          <p:cNvSpPr/>
          <p:nvPr/>
        </p:nvSpPr>
        <p:spPr>
          <a:xfrm>
            <a:off x="6322424" y="8060862"/>
            <a:ext cx="10842170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How to use Metrics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3" name="Shape 127"/>
          <p:cNvSpPr/>
          <p:nvPr/>
        </p:nvSpPr>
        <p:spPr>
          <a:xfrm>
            <a:off x="10589045" y="2450128"/>
            <a:ext cx="5163810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Measurement Name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4" name="Shape 127"/>
          <p:cNvSpPr/>
          <p:nvPr/>
        </p:nvSpPr>
        <p:spPr>
          <a:xfrm>
            <a:off x="10589045" y="3674054"/>
            <a:ext cx="5134956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Tags and its values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5" name="Shape 127"/>
          <p:cNvSpPr/>
          <p:nvPr/>
        </p:nvSpPr>
        <p:spPr>
          <a:xfrm>
            <a:off x="10589045" y="3062091"/>
            <a:ext cx="5873941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Fields and aggregation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6" name="Shape 127"/>
          <p:cNvSpPr/>
          <p:nvPr/>
        </p:nvSpPr>
        <p:spPr>
          <a:xfrm>
            <a:off x="10589045" y="4286017"/>
            <a:ext cx="1856816" cy="79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67735" tIns="67735" rIns="67735" bIns="67735" anchor="ctr">
            <a:spAutoFit/>
          </a:bodyPr>
          <a:lstStyle>
            <a:lvl1pPr algn="l">
              <a:defRPr sz="32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42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&lt;- Alias</a:t>
            </a:r>
            <a:endParaRPr sz="42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85" y="1700424"/>
            <a:ext cx="9582986" cy="581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160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4764" y="8588383"/>
            <a:ext cx="1530162" cy="1003296"/>
            <a:chOff x="4740009" y="5773783"/>
            <a:chExt cx="1530162" cy="1003296"/>
          </a:xfrm>
        </p:grpSpPr>
        <p:pic>
          <p:nvPicPr>
            <p:cNvPr id="6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801630" y="5773783"/>
              <a:ext cx="1232921" cy="668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Shape 145"/>
            <p:cNvSpPr/>
            <p:nvPr/>
          </p:nvSpPr>
          <p:spPr>
            <a:xfrm>
              <a:off x="4740009" y="6332509"/>
              <a:ext cx="1530162" cy="4445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2000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1" name="Shape 126"/>
          <p:cNvSpPr/>
          <p:nvPr/>
        </p:nvSpPr>
        <p:spPr>
          <a:xfrm>
            <a:off x="6322424" y="8060862"/>
            <a:ext cx="10842170" cy="1778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How to use Metrics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pic>
        <p:nvPicPr>
          <p:cNvPr id="12" name="Picture 2" descr="http://grafana.org/assets/img/features/dashboard_ex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64" y="161773"/>
            <a:ext cx="16579792" cy="82898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2935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45"/>
          <p:cNvSpPr/>
          <p:nvPr/>
        </p:nvSpPr>
        <p:spPr>
          <a:xfrm>
            <a:off x="3877860" y="5710469"/>
            <a:ext cx="9877328" cy="17783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67735" tIns="67735" rIns="67735" bIns="67735" numCol="1" anchor="ctr">
            <a:spAutoFit/>
          </a:bodyPr>
          <a:lstStyle>
            <a:lvl1pPr algn="l">
              <a:defRPr sz="8000">
                <a:solidFill>
                  <a:srgbClr val="3EB49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lang="en-US" sz="10667" dirty="0" smtClean="0">
                <a:latin typeface="Superspace Bold" panose="02000000000000000000" pitchFamily="2" charset="0"/>
                <a:cs typeface="Superspace Bold" panose="02000000000000000000" pitchFamily="2" charset="0"/>
              </a:rPr>
              <a:t>DEMONSTRATION</a:t>
            </a:r>
            <a:endParaRPr sz="10667" dirty="0">
              <a:latin typeface="Superspace Bold" panose="02000000000000000000" pitchFamily="2" charset="0"/>
              <a:cs typeface="Superspace Bold" panose="02000000000000000000" pitchFamily="2" charset="0"/>
            </a:endParaRPr>
          </a:p>
        </p:txBody>
      </p:sp>
      <p:sp>
        <p:nvSpPr>
          <p:cNvPr id="135" name="Shape 135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pic>
        <p:nvPicPr>
          <p:cNvPr id="7" name="WhiteBe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2936" y="2320172"/>
            <a:ext cx="6996030" cy="3790953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2" name="Rectangle 1"/>
          <p:cNvSpPr/>
          <p:nvPr/>
        </p:nvSpPr>
        <p:spPr>
          <a:xfrm>
            <a:off x="2295201" y="8718007"/>
            <a:ext cx="122915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https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://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github.com/bigbearsio/GrafanaDemo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0038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/>
        </p:nvSpPr>
        <p:spPr>
          <a:xfrm>
            <a:off x="14083759" y="10717896"/>
            <a:ext cx="3078875" cy="465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r">
              <a:defRPr sz="1600">
                <a:solidFill>
                  <a:srgbClr val="53585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2133">
                <a:latin typeface="Superspace Bold" panose="02000000000000000000" pitchFamily="2" charset="0"/>
                <a:cs typeface="Superspace Bold" panose="02000000000000000000" pitchFamily="2" charset="0"/>
              </a:rPr>
              <a:t>© 2016 created by norbor</a:t>
            </a:r>
          </a:p>
        </p:txBody>
      </p:sp>
      <p:grpSp>
        <p:nvGrpSpPr>
          <p:cNvPr id="146" name="Group 146"/>
          <p:cNvGrpSpPr/>
          <p:nvPr/>
        </p:nvGrpSpPr>
        <p:grpSpPr>
          <a:xfrm>
            <a:off x="4766135" y="2320172"/>
            <a:ext cx="7349634" cy="5168630"/>
            <a:chOff x="0" y="0"/>
            <a:chExt cx="5512055" cy="3876352"/>
          </a:xfrm>
        </p:grpSpPr>
        <p:pic>
          <p:nvPicPr>
            <p:cNvPr id="144" name="WhiteBear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32597" y="0"/>
              <a:ext cx="5246860" cy="28431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5" name="Shape 145"/>
            <p:cNvSpPr/>
            <p:nvPr/>
          </p:nvSpPr>
          <p:spPr>
            <a:xfrm>
              <a:off x="0" y="2542644"/>
              <a:ext cx="5512055" cy="13337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67735" tIns="67735" rIns="67735" bIns="67735" numCol="1" anchor="ctr">
              <a:spAutoFit/>
            </a:bodyPr>
            <a:lstStyle>
              <a:lvl1pPr algn="l">
                <a:defRPr sz="8000">
                  <a:solidFill>
                    <a:srgbClr val="3EB496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10667" dirty="0">
                  <a:latin typeface="Superspace Bold" panose="02000000000000000000" pitchFamily="2" charset="0"/>
                  <a:cs typeface="Superspace Bold" panose="02000000000000000000" pitchFamily="2" charset="0"/>
                </a:rPr>
                <a:t>BIGBEARS.IO</a:t>
              </a:r>
            </a:p>
          </p:txBody>
        </p:sp>
      </p:grpSp>
      <p:sp>
        <p:nvSpPr>
          <p:cNvPr id="147" name="Shape 147"/>
          <p:cNvSpPr/>
          <p:nvPr/>
        </p:nvSpPr>
        <p:spPr>
          <a:xfrm>
            <a:off x="405995" y="-776553"/>
            <a:ext cx="2645779" cy="875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67735" tIns="67735" rIns="67735" bIns="67735" anchor="ctr">
            <a:sp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sz="4800">
                <a:latin typeface="Superspace Bold" panose="02000000000000000000" pitchFamily="2" charset="0"/>
                <a:cs typeface="Superspace Bold" panose="02000000000000000000" pitchFamily="2" charset="0"/>
              </a:rPr>
              <a:t>Logo #2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495</Words>
  <Application>Microsoft Office PowerPoint</Application>
  <PresentationFormat>Custom</PresentationFormat>
  <Paragraphs>157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Helvetica</vt:lpstr>
      <vt:lpstr>Helvetica Light</vt:lpstr>
      <vt:lpstr>Helvetica Neue</vt:lpstr>
      <vt:lpstr>Superspace Bold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Pijittum, Mahasak (Agoda)</dc:creator>
  <cp:lastModifiedBy>Pijittum, Mahasak (Agoda)</cp:lastModifiedBy>
  <cp:revision>35</cp:revision>
  <dcterms:modified xsi:type="dcterms:W3CDTF">2016-10-08T07:35:20Z</dcterms:modified>
</cp:coreProperties>
</file>